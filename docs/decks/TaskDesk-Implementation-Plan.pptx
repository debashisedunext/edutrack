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4F46E5"/>
              </a:gs>
              <a:gs pos="100000">
                <a:srgbClr val="1E1B4B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74519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A5B4FC"/>
                </a:solidFill>
                <a:latin typeface="Calibri"/>
              </a:rPr>
              <a:t>TASKDESK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31720"/>
            <a:ext cx="10911535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Implementation Plan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657600"/>
            <a:ext cx="1371600" cy="41148"/>
          </a:xfrm>
          <a:prstGeom prst="rect">
            <a:avLst/>
          </a:prstGeom>
          <a:solidFill>
            <a:srgbClr val="A5B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977639"/>
            <a:ext cx="999713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50" b="0">
                <a:solidFill>
                  <a:srgbClr val="C7D2FE"/>
                </a:solidFill>
                <a:latin typeface="Calibri"/>
              </a:rPr>
              <a:t>Java 21 · Spring Boot 3.3 · MySQL 8.4 · React 18 + TypeScript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50" b="0">
                <a:solidFill>
                  <a:srgbClr val="C7D2FE"/>
                </a:solidFill>
                <a:latin typeface="Calibri"/>
              </a:rPr>
              <a:t>PostgreSQL → MySQL translation · milestones M0–M7 · 18 weeks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89788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818CF8"/>
                </a:solidFill>
                <a:latin typeface="Calibri"/>
              </a:rPr>
              <a:t>Build specification — companion to the Product Blueprint v1.2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75488"/>
            <a:ext cx="50292" cy="42062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45720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11827"/>
                </a:solidFill>
                <a:latin typeface="Calibri"/>
              </a:rPr>
              <a:t>Two documents, two authorities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960120"/>
            <a:ext cx="1072865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6B7280"/>
                </a:solidFill>
                <a:latin typeface="Calibri"/>
              </a:rPr>
              <a:t>Where they disagree, each wins in its own domain — and nothing is silent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81328"/>
            <a:ext cx="5303520" cy="201168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719072"/>
            <a:ext cx="4754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4F46E5"/>
                </a:solidFill>
                <a:latin typeface="Calibri"/>
              </a:rPr>
              <a:t>THE BLUEPRINT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1031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4F46E5"/>
                </a:solidFill>
                <a:latin typeface="Calibri"/>
              </a:rPr>
              <a:t>The product specification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78608"/>
            <a:ext cx="47548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4F46E5"/>
                </a:solidFill>
                <a:latin typeface="Calibri"/>
              </a:rPr>
              <a:t>What the system does. Every screen, every field, every rule.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4F46E5"/>
                </a:solidFill>
                <a:latin typeface="Calibri"/>
              </a:rPr>
              <a:t>Wins on BEHAVIOUR.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81328"/>
            <a:ext cx="5285232" cy="201168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56248" y="1719072"/>
            <a:ext cx="4754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065F46"/>
                </a:solidFill>
                <a:latin typeface="Calibri"/>
              </a:rPr>
              <a:t>THIS PLAN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6248" y="21031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065F46"/>
                </a:solidFill>
                <a:latin typeface="Calibri"/>
              </a:rPr>
              <a:t>The build specification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6248" y="2578608"/>
            <a:ext cx="47548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065F46"/>
                </a:solidFill>
                <a:latin typeface="Calibri"/>
              </a:rPr>
              <a:t>What stack, what order, what has to be decided first.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065F46"/>
                </a:solidFill>
                <a:latin typeface="Calibri"/>
              </a:rPr>
              <a:t>Wins on IMPLEMENTATION.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767328"/>
            <a:ext cx="10911535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19" y="3950208"/>
            <a:ext cx="102714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6B7280"/>
                </a:solidFill>
                <a:latin typeface="Calibri"/>
              </a:rPr>
              <a:t>WHY THIS MATTERS HERE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19" y="4297680"/>
            <a:ext cx="1027145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0">
                <a:solidFill>
                  <a:srgbClr val="111827"/>
                </a:solidFill>
                <a:latin typeface="Calibri"/>
              </a:rPr>
              <a:t>The blueprint recommends NestJS + PostgreSQL. We are building on Java + MySQL.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0">
                <a:solidFill>
                  <a:srgbClr val="111827"/>
                </a:solidFill>
                <a:latin typeface="Calibri"/>
              </a:rPr>
              <a:t/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0">
                <a:solidFill>
                  <a:srgbClr val="111827"/>
                </a:solidFill>
                <a:latin typeface="Calibri"/>
              </a:rPr>
              <a:t>That means its DDL, its BullMQ / Socket.IO / SheetJS choices and its shared-Zod-schema guidance do not apply as written. Every substitution is listed explicitly — none are left for a developer to discover mid-sprint.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37376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54335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75488"/>
            <a:ext cx="50292" cy="42062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45720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11827"/>
                </a:solidFill>
                <a:latin typeface="Calibri"/>
              </a:rPr>
              <a:t>Three things are the architectural spine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960120"/>
            <a:ext cx="1072865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6B7280"/>
                </a:solidFill>
                <a:latin typeface="Calibri"/>
              </a:rPr>
              <a:t>Everything else hangs off them, and each is expensive to retrofit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81328"/>
            <a:ext cx="3484778" cy="3840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96112" y="1755648"/>
            <a:ext cx="475488" cy="36576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19656"/>
            <a:ext cx="475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322576"/>
            <a:ext cx="297271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50" b="1">
                <a:solidFill>
                  <a:srgbClr val="111827"/>
                </a:solidFill>
                <a:latin typeface="Calibri"/>
              </a:rPr>
              <a:t>The append-only history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017520"/>
            <a:ext cx="2972714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ticket_history, ticket_effort_logs and ticket_stage_transitions are insert-only, hash-chained, enforced at four independent layers — service, DB grants, DB triggers, and absent HTTP routes.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" y="4480560"/>
            <a:ext cx="2972714" cy="658368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7" y="4608576"/>
            <a:ext cx="271668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1">
                <a:solidFill>
                  <a:srgbClr val="991B1B"/>
                </a:solidFill>
                <a:latin typeface="Calibri"/>
              </a:rPr>
              <a:t>Built late, every write path already written has to be re-audited.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53458" y="1481328"/>
            <a:ext cx="3484778" cy="3840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09490" y="1755648"/>
            <a:ext cx="475488" cy="36576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09490" y="1819656"/>
            <a:ext cx="475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9490" y="2322576"/>
            <a:ext cx="297271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50" b="1">
                <a:solidFill>
                  <a:srgbClr val="111827"/>
                </a:solidFill>
                <a:latin typeface="Calibri"/>
              </a:rPr>
              <a:t>The Workflow Ribbon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09490" y="3017520"/>
            <a:ext cx="2972714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Eight configurable stages, cycle_no and iteration_no as two orthogonal counters, per-stage-per-resource effort attribution, and the active-vs-idle split that makes it more than decoration.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09490" y="4480560"/>
            <a:ext cx="2972714" cy="658368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37506" y="4608576"/>
            <a:ext cx="271668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1">
                <a:solidFill>
                  <a:srgbClr val="991B1B"/>
                </a:solidFill>
                <a:latin typeface="Calibri"/>
              </a:rPr>
              <a:t>The product differentiator, and the hardest UI in the system.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66836" y="1481328"/>
            <a:ext cx="3484778" cy="3840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322868" y="1755648"/>
            <a:ext cx="475488" cy="365760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2868" y="1819656"/>
            <a:ext cx="475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2868" y="2322576"/>
            <a:ext cx="297271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50" b="1">
                <a:solidFill>
                  <a:srgbClr val="111827"/>
                </a:solidFill>
                <a:latin typeface="Calibri"/>
              </a:rPr>
              <a:t>The row-scope guard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2868" y="3017520"/>
            <a:ext cx="2972714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Every ticket query rewritten server-side with a mandatory scope predicate. Developer sees assigned_to = me; PM sees their projects; out-of-scope IDs return 404, not 403.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22868" y="4480560"/>
            <a:ext cx="2972714" cy="658368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50884" y="4608576"/>
            <a:ext cx="271668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1">
                <a:solidFill>
                  <a:srgbClr val="991B1B"/>
                </a:solidFill>
                <a:latin typeface="Calibri"/>
              </a:rPr>
              <a:t>One leak here and the system fails its first audit.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437376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54335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75488"/>
            <a:ext cx="50292" cy="42062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45720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11827"/>
                </a:solidFill>
                <a:latin typeface="Calibri"/>
              </a:rPr>
              <a:t>The stack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170432"/>
          <a:ext cx="10908792" cy="3474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68880"/>
                <a:gridCol w="4023360"/>
                <a:gridCol w="4416552"/>
              </a:tblGrid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Choice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Note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Language · Framework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Java 21 LTS · Spring Boot 3.3+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Virtual threads for the IMAP poller and mail workers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Persistence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Spring Data JPA + Hibernate 6 · Flyway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JdbcTemplate for reporting queries; migrations hand-written SQL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Database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MySQL 8.4 · InnoDB · utf8mb4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All timestamps DATETIME(6) in UTC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Cache · Scheduler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Redis 7 · @Scheduled + ShedLock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Token registry, rate limits; ShedLock stops double-firing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Async · Realtime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Transactional outbox · Spring WebSocket + STOMP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Redis relay for multi-instance fan-out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Storage · Excel · Mail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MinIO/S3 · Apache POI · Spring Mail + Thymeleaf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POI streaming, not the DOM reader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Security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Argon2id · Nimbus JOSE JWT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64 MB memory, 3 iterations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Frontend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React 18 + TS + Vite · Tailwind + shadcn/ui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TanStack Query · Zustand · RHF + Zod · Recharts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Contract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springdoc-openapi → generated TS client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CI fails if the committed client is stale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Testing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JUnit 5 · Testcontainers · MockMvc · ArchUnit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ArchUnit enforces the scope-guard rule structurally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6437376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75488"/>
            <a:ext cx="50292" cy="42062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45720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11827"/>
                </a:solidFill>
                <a:latin typeface="Calibri"/>
              </a:rPr>
              <a:t>Five Node choices with no Java equivalent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960120"/>
            <a:ext cx="1072865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6B7280"/>
                </a:solidFill>
                <a:latin typeface="Calibri"/>
              </a:rPr>
              <a:t>Each substitution preserves the behaviour the blueprint specifies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481328"/>
          <a:ext cx="10908792" cy="3474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3017520"/>
                <a:gridCol w="6062472"/>
              </a:tblGrid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Blueprint says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We use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Why, and what changes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EF4444"/>
                          </a:solidFill>
                          <a:latin typeface="Calibri"/>
                        </a:rPr>
                        <a:t>BullMQ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111827"/>
                          </a:solidFill>
                          <a:latin typeface="Calibri"/>
                        </a:rPr>
                        <a:t>Transactional outbox + @Scheduled + ShedLock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Calibri"/>
                        </a:rPr>
                        <a:t>email_log already IS an outbox — status, retry_count, provider ID. Claim rows with SELECT … FOR UPDATE SKIP LOCKED. Enqueue becomes atomic with the business transaction, which BullMQ could not have guaranteed.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EF4444"/>
                          </a:solidFill>
                          <a:latin typeface="Calibri"/>
                        </a:rPr>
                        <a:t>Socket.IO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111827"/>
                          </a:solidFill>
                          <a:latin typeface="Calibri"/>
                        </a:rPr>
                        <a:t>Spring WebSocket + STOMP, Redis relay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Calibri"/>
                        </a:rPr>
                        <a:t>Rooms map to destinations. Subscriptions authorised in a ChannelInterceptor using the same scope rules as REST — a Developer cannot subscribe to a ticket they could not GET.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EF4444"/>
                          </a:solidFill>
                          <a:latin typeface="Calibri"/>
                        </a:rPr>
                        <a:t>SheetJS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111827"/>
                          </a:solidFill>
                          <a:latin typeface="Calibri"/>
                        </a:rPr>
                        <a:t>Apache POI — SXSSF write, SAX read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Calibri"/>
                        </a:rPr>
                        <a:t>The streaming reader is required, not optional: POI's DOM reader loads a 5,000-row workbook fully into memory per concurrent import.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EF4444"/>
                          </a:solidFill>
                          <a:latin typeface="Calibri"/>
                        </a:rPr>
                        <a:t>Prisma / TypeORM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111827"/>
                          </a:solidFill>
                          <a:latin typeface="Calibri"/>
                        </a:rPr>
                        <a:t>Spring Data JPA + Flyway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Calibri"/>
                        </a:rPr>
                        <a:t>Migrations are hand-written SQL, which we want anyway — the immutability triggers are not expressible through a migration generator.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EF4444"/>
                          </a:solidFill>
                          <a:latin typeface="Calibri"/>
                        </a:rPr>
                        <a:t>Shared Zod schemas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111827"/>
                          </a:solidFill>
                          <a:latin typeface="Calibri"/>
                        </a:rPr>
                        <a:t>OpenAPI → orval codegen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Calibri"/>
                        </a:rPr>
                        <a:t>The one genuine loss. Bean Validation on the Java DTOs is the single source of truth; springdoc emits it; codegen produces Zod. CI fails on a stale client, so drift is caught at merge.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6437376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54335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75488"/>
            <a:ext cx="50292" cy="42062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45720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11827"/>
                </a:solidFill>
                <a:latin typeface="Calibri"/>
              </a:rPr>
              <a:t>PostgreSQL → MySQL · type and construct mapping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960120"/>
            <a:ext cx="1072865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6B7280"/>
                </a:solidFill>
                <a:latin typeface="Calibri"/>
              </a:rPr>
              <a:t>Eight constructs do not exist in MySQL 8 — this mapping is normative for every migration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481328"/>
          <a:ext cx="10908792" cy="31455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00400"/>
                <a:gridCol w="3566160"/>
                <a:gridCol w="4142232"/>
              </a:tblGrid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Blueprint (PostgreSQL)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MySQL 8 equivalent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Note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BIGSERIAL PRIMARY KEY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BIGINT AUTO_INCREMENT PRIMARY KEY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TIMESTAMPTZ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DATETIME(6), stored UTC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TIMESTAMP has a 2038 limit and silent session-timezone conversion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VARCHAR(20)[] · BIGINT[]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JSON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Validated in the service layer; queried with JSON_CONTAINS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Partial index WHERE …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Stored generated column + plain index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pcd_open, current_ticket_id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UPDATE … RETURNING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LAST_INSERT_ID(expr) idiom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Atomic, connection-local, no explicit row lock needed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RAISE EXCEPTION in a function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SIGNAL SQLSTATE '45000' per trigger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MySQL needs TWO triggers where Postgres allowed one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CHAR(64) hashes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CHAR(64) COLLATE ascii_bin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Exact comparison, no utf8mb4 overhead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Boolean · NUMERIC(p,s)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TINYINT(1) · DECIMAL(p,s)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4727448"/>
            <a:ext cx="10911535" cy="841248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19" y="4892040"/>
            <a:ext cx="102714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4F46E5"/>
                </a:solidFill>
                <a:latin typeface="Consolas"/>
              </a:rPr>
              <a:t>Ticket ID generation:   UPDATE projects SET ticket_seq = LAST_INSERT_ID(ticket_seq + 1) WHERE id = ?;  then  SELECT LAST_INSERT_ID();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4F46E5"/>
                </a:solidFill>
                <a:latin typeface="Consolas"/>
              </a:rPr>
              <a:t>COUNT(*) must never be used — it breaks silently, and only under concurrency.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37376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54335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75488"/>
            <a:ext cx="50292" cy="42062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45720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11827"/>
                </a:solidFill>
                <a:latin typeface="Calibri"/>
              </a:rPr>
              <a:t>Four defects found in the blueprint itself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960120"/>
            <a:ext cx="1072865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6B7280"/>
                </a:solidFill>
                <a:latin typeface="Calibri"/>
              </a:rPr>
              <a:t>These are in the source document, not artefacts of the MySQL move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81328"/>
            <a:ext cx="10911535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72768"/>
            <a:ext cx="50292" cy="749808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91056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11827"/>
                </a:solidFill>
                <a:latin typeface="Calibri"/>
              </a:rPr>
              <a:t>The effort roll-up double-counts after a reopen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48256"/>
            <a:ext cx="4114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EF4444"/>
                </a:solidFill>
                <a:latin typeface="Calibri"/>
              </a:rPr>
              <a:t>→  Add  AND e.cycle_no = t.cycle_no  to the join.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1627632"/>
            <a:ext cx="597377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§4A.5's LEFT JOIN matches effort logs on (ticket_id, stage_code, iteration_no) but omits cycle_no. A ticket that re-enters the same stage at the same iteration in cycle 2 absorbs cycle 1's hours.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514600"/>
            <a:ext cx="10911535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606040"/>
            <a:ext cx="50292" cy="74980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624328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11827"/>
                </a:solidFill>
                <a:latin typeface="Calibri"/>
              </a:rPr>
              <a:t>The same query will not run on MySQL at all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081528"/>
            <a:ext cx="4114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Calibri"/>
              </a:rPr>
              <a:t>→  Rewrite with every non-aggregated column in GROUP BY — do not disable the mode, it catches real bugs.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2660904"/>
            <a:ext cx="597377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It selects five non-aggregated columns while grouping by three. PostgreSQL permits it via functional dependency; MySQL's ONLY_FULL_GROUP_BY rejects 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547872"/>
            <a:ext cx="10911535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639312"/>
            <a:ext cx="50292" cy="74980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65760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11827"/>
                </a:solidFill>
                <a:latin typeface="Calibri"/>
              </a:rPr>
              <a:t>ticket_stage_transitions is under-protected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114800"/>
            <a:ext cx="4114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Calibri"/>
              </a:rPr>
              <a:t>→  A BEFORE UPDATE trigger permitting only the seal, using NULL-safe &lt;=&gt; comparison.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3694176"/>
            <a:ext cx="597377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§4A.5 creates only a BEFORE DELETE trigger and mentions an unspecified CHECK for exited_at — leaving every other column freely updatable by a stray query or ORM dirty-check.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581144"/>
            <a:ext cx="10911535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4672583"/>
            <a:ext cx="50292" cy="749808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690872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11827"/>
                </a:solidFill>
                <a:latin typeface="Calibri"/>
              </a:rPr>
              <a:t>The hash chain forks under concurrency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148072"/>
            <a:ext cx="4114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EF4444"/>
                </a:solidFill>
                <a:latin typeface="Calibri"/>
              </a:rPr>
              <a:t>→  Chain per-ticket, behind SELECT … FOR UPDATE on the ticket row.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727448"/>
            <a:ext cx="597377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§4.2 specifies prev_hash/row_hash and nightly verification but never says how two concurrent appends stay linear. They don't — both read the same latest row, and the verifier reports our own bug as tampering.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437376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54335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75488"/>
            <a:ext cx="50292" cy="42062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45720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11827"/>
                </a:solidFill>
                <a:latin typeface="Calibri"/>
              </a:rPr>
              <a:t>Immutability in MySQL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960120"/>
            <a:ext cx="1072865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6B7280"/>
                </a:solidFill>
                <a:latin typeface="Calibri"/>
              </a:rPr>
              <a:t>Triggers, their three limits, and what closes each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81328"/>
            <a:ext cx="6035040" cy="2286000"/>
          </a:xfrm>
          <a:prstGeom prst="roundRect">
            <a:avLst>
              <a:gd name="adj" fmla="val 6000"/>
            </a:avLst>
          </a:prstGeom>
          <a:solidFill>
            <a:srgbClr val="1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627632"/>
            <a:ext cx="5632703" cy="1993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0">
                <a:solidFill>
                  <a:srgbClr val="E5E8F0"/>
                </a:solidFill>
                <a:latin typeface="Consolas"/>
              </a:rPr>
              <a:t>CREATE TRIGGER trg_hist_no_update BEFORE UPDATE ON ticket_history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0">
                <a:solidFill>
                  <a:srgbClr val="E5E8F0"/>
                </a:solidFill>
                <a:latin typeface="Consolas"/>
              </a:rPr>
              <a:t>FOR EACH ROW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0">
                <a:solidFill>
                  <a:srgbClr val="E5E8F0"/>
                </a:solidFill>
                <a:latin typeface="Consolas"/>
              </a:rPr>
              <a:t>BEGIN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0">
                <a:solidFill>
                  <a:srgbClr val="E5E8F0"/>
                </a:solidFill>
                <a:latin typeface="Consolas"/>
              </a:rPr>
              <a:t>  SIGNAL SQLSTATE '45000'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0">
                <a:solidFill>
                  <a:srgbClr val="E5E8F0"/>
                </a:solidFill>
                <a:latin typeface="Consolas"/>
              </a:rPr>
              <a:t>    SET MESSAGE_TEXT = 'Immutable table: ticket_history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0">
                <a:solidFill>
                  <a:srgbClr val="E5E8F0"/>
                </a:solidFill>
                <a:latin typeface="Consolas"/>
              </a:rPr>
              <a:t>                        rows cannot be updated';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0">
                <a:solidFill>
                  <a:srgbClr val="E5E8F0"/>
                </a:solidFill>
                <a:latin typeface="Consolas"/>
              </a:rPr>
              <a:t>END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0">
                <a:solidFill>
                  <a:srgbClr val="E5E8F0"/>
                </a:solidFill>
                <a:latin typeface="Consolas"/>
              </a:rPr>
              <a:t/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0">
                <a:solidFill>
                  <a:srgbClr val="E5E8F0"/>
                </a:solidFill>
                <a:latin typeface="Consolas"/>
              </a:rPr>
              <a:t>-- and a second, identical trigger for BEFORE DELETE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0">
                <a:solidFill>
                  <a:srgbClr val="E5E8F0"/>
                </a:solidFill>
                <a:latin typeface="Consolas"/>
              </a:rPr>
              <a:t>-- MySQL cannot express  BEFORE UPDATE OR DELETE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0" y="1481328"/>
            <a:ext cx="4602175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87184" y="1581912"/>
            <a:ext cx="414497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EF4444"/>
                </a:solidFill>
                <a:latin typeface="Calibri"/>
              </a:rPr>
              <a:t>Triggers do not fire on TRUNCATE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87184" y="1847088"/>
            <a:ext cx="414497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Calibri"/>
              </a:rPr>
              <a:t>The app DB user is granted no DROP privilege, which TRUNCATE requires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0" y="2276856"/>
            <a:ext cx="4602175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87184" y="2377440"/>
            <a:ext cx="414497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EF4444"/>
                </a:solidFill>
                <a:latin typeface="Calibri"/>
              </a:rPr>
              <a:t>Triggers do not survive DROP 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87184" y="2642616"/>
            <a:ext cx="414497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Calibri"/>
              </a:rPr>
              <a:t>No DDL privileges for the app user; Flyway runs as a separate migration user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49440" y="3072384"/>
            <a:ext cx="4602175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87184" y="3172968"/>
            <a:ext cx="414497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EF4444"/>
                </a:solidFill>
                <a:latin typeface="Calibri"/>
              </a:rPr>
              <a:t>A privileged user can drop the triggers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87184" y="3438144"/>
            <a:ext cx="414497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Calibri"/>
              </a:rPr>
              <a:t>The hash chain is the backstop — tampering that bypasses triggers still breaks the chain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041648"/>
            <a:ext cx="10911535" cy="1508760"/>
          </a:xfrm>
          <a:prstGeom prst="roundRect">
            <a:avLst>
              <a:gd name="adj" fmla="val 6000"/>
            </a:avLst>
          </a:prstGeom>
          <a:solidFill>
            <a:srgbClr val="1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19" y="4224528"/>
            <a:ext cx="102714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A5B4FC"/>
                </a:solidFill>
                <a:latin typeface="Calibri"/>
              </a:rPr>
              <a:t>THE ONE PERMITTED MUTATION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19" y="4572000"/>
            <a:ext cx="1027145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Sealing a stage transition: exited_at goes NULL → timestamp, and duration_mins is computed at the same moment.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The trigger permits it only when the row is still open AND only those columns changed — compared with &lt;=&gt;, because plain = returns NULL for two NULLs and silently passes the check.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37376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54335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75488"/>
            <a:ext cx="50292" cy="42062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45720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11827"/>
                </a:solidFill>
                <a:latin typeface="Calibri"/>
              </a:rPr>
              <a:t>Every deviation from the blueprint, in one place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960120"/>
            <a:ext cx="1072865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6B7280"/>
                </a:solidFill>
                <a:latin typeface="Calibri"/>
              </a:rPr>
              <a:t>Nothing is silent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481328"/>
          <a:ext cx="10908792" cy="34930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0080"/>
                <a:gridCol w="3108960"/>
                <a:gridCol w="3566160"/>
                <a:gridCol w="3593592"/>
              </a:tblGrid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Blueprint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What we do instead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Why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4F46E5"/>
                          </a:solidFill>
                          <a:latin typeface="Calibri"/>
                        </a:rPr>
                        <a:t>D-1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Calibri"/>
                        </a:rPr>
                        <a:t>NestJS / Node backend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Calibri"/>
                        </a:rPr>
                        <a:t>Spring Boot / Java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6B7280"/>
                          </a:solidFill>
                          <a:latin typeface="Calibri"/>
                        </a:rPr>
                        <a:t>Directed by the team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4F46E5"/>
                          </a:solidFill>
                          <a:latin typeface="Calibri"/>
                        </a:rPr>
                        <a:t>D-2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Calibri"/>
                        </a:rPr>
                        <a:t>PostgreSQL 16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Calibri"/>
                        </a:rPr>
                        <a:t>MySQL 8.4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6B7280"/>
                          </a:solidFill>
                          <a:latin typeface="Calibri"/>
                        </a:rPr>
                        <a:t>Directed by the team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4F46E5"/>
                          </a:solidFill>
                          <a:latin typeface="Calibri"/>
                        </a:rPr>
                        <a:t>D-3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Calibri"/>
                        </a:rPr>
                        <a:t>BullMQ, Socket.IO, SheetJS, Prisma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Calibri"/>
                        </a:rPr>
                        <a:t>Outbox, STOMP, POI, JPA+Flyway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6B7280"/>
                          </a:solidFill>
                          <a:latin typeface="Calibri"/>
                        </a:rPr>
                        <a:t>No Java equivalents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4F46E5"/>
                          </a:solidFill>
                          <a:latin typeface="Calibri"/>
                        </a:rPr>
                        <a:t>D-4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Calibri"/>
                        </a:rPr>
                        <a:t>Shared Zod schemas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Calibri"/>
                        </a:rPr>
                        <a:t>OpenAPI + generated client, CI check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6B7280"/>
                          </a:solidFill>
                          <a:latin typeface="Calibri"/>
                        </a:rPr>
                        <a:t>Cannot share validation across languages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EF4444"/>
                          </a:solidFill>
                          <a:latin typeface="Calibri"/>
                        </a:rPr>
                        <a:t>D-5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Calibri"/>
                        </a:rPr>
                        <a:t>DELETE trigger + unspecified rule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Calibri"/>
                        </a:rPr>
                        <a:t>Explicit BEFORE UPDATE seal-only trigger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6B7280"/>
                          </a:solidFill>
                          <a:latin typeface="Calibri"/>
                        </a:rPr>
                        <a:t>Every other column was left updatable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EF4444"/>
                          </a:solidFill>
                          <a:latin typeface="Calibri"/>
                        </a:rPr>
                        <a:t>D-6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Calibri"/>
                        </a:rPr>
                        <a:t>Hash chain, concurrency unspecified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Calibri"/>
                        </a:rPr>
                        <a:t>Per-ticket chain with row lock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6B7280"/>
                          </a:solidFill>
                          <a:latin typeface="Calibri"/>
                        </a:rPr>
                        <a:t>Concurrent appends fork the chain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EF4444"/>
                          </a:solidFill>
                          <a:latin typeface="Calibri"/>
                        </a:rPr>
                        <a:t>D-7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Calibri"/>
                        </a:rPr>
                        <a:t>Roll-up query as written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Calibri"/>
                        </a:rPr>
                        <a:t>Rewritten + cycle_no added to join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6B7280"/>
                          </a:solidFill>
                          <a:latin typeface="Calibri"/>
                        </a:rPr>
                        <a:t>Original double-counts after a reopen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F59E0B"/>
                          </a:solidFill>
                          <a:latin typeface="Calibri"/>
                        </a:rPr>
                        <a:t>D-8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Calibri"/>
                        </a:rPr>
                        <a:t>Ticket ID year behaviour unstated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Calibri"/>
                        </a:rPr>
                        <a:t>No reset at rollover; code immutable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6B7280"/>
                          </a:solidFill>
                          <a:latin typeface="Calibri"/>
                        </a:rPr>
                        <a:t>Resetting creates a midnight collision window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F59E0B"/>
                          </a:solidFill>
                          <a:latin typeface="Calibri"/>
                        </a:rPr>
                        <a:t>D-9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Calibri"/>
                        </a:rPr>
                        <a:t>Phases 0–6 by calendar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Calibri"/>
                        </a:rPr>
                        <a:t>Milestones M0–M7 by dependency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6B7280"/>
                          </a:solidFill>
                          <a:latin typeface="Calibri"/>
                        </a:rPr>
                        <a:t>Each milestone independently demoable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6437376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54335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75488"/>
            <a:ext cx="50292" cy="42062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45720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11827"/>
                </a:solidFill>
                <a:latin typeface="Calibri"/>
              </a:rPr>
              <a:t>Four decisions must be locked before M2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960120"/>
            <a:ext cx="1072865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6B7280"/>
                </a:solidFill>
                <a:latin typeface="Calibri"/>
              </a:rPr>
              <a:t>Blueprint §16 lists 13 governance questions — nine can wait, these four change the schema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481328"/>
          <a:ext cx="10908792" cy="2560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0080"/>
                <a:gridCol w="4023360"/>
                <a:gridCol w="3566160"/>
                <a:gridCol w="2679192"/>
              </a:tblGrid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Question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Proposed default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What it touches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4F46E5"/>
                          </a:solidFill>
                          <a:latin typeface="Calibri"/>
                        </a:rPr>
                        <a:t>G-1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Is effort mandatory at handoff — blocking or warn-only?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Blocking, per-project flag defaulting on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Handoff DTO, S-29, skip report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4F46E5"/>
                          </a:solidFill>
                          <a:latin typeface="Calibri"/>
                        </a:rPr>
                        <a:t>G-2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Does a rework loop reset the Planned Close Date?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No — the original date stands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SLA scanner, breach reporting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4F46E5"/>
                          </a:solidFill>
                          <a:latin typeface="Calibri"/>
                        </a:rPr>
                        <a:t>G-3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Can a Developer close, or only mark Resolved?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Resolved only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workflow_transitions seed, S-23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4F46E5"/>
                          </a:solidFill>
                          <a:latin typeface="Calibri"/>
                        </a:rPr>
                        <a:t>G-4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Does an auto-escalated level revert after closure?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No — original_level preserved, both reported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Already in schema; needs the report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4224528"/>
            <a:ext cx="10911535" cy="1325880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19" y="4407408"/>
            <a:ext cx="102714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92400E"/>
                </a:solidFill>
                <a:latin typeface="Calibri"/>
              </a:rPr>
              <a:t>OPEN QUESTION THE BLUEPRINT DOES NOT ANSWER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19" y="4754880"/>
            <a:ext cx="1027145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92400E"/>
                </a:solidFill>
                <a:latin typeface="Calibri"/>
              </a:rPr>
              <a:t>Is there an existing employee directory or SSO — Azure AD, Google Workspace — that the Resource Master should sync from, or is TaskDesk the system of record for users?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92400E"/>
                </a:solidFill>
                <a:latin typeface="Calibri"/>
              </a:rPr>
              <a:t>If a directory exists, users needs an external ID from M1, not after M3.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37376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54335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75488"/>
            <a:ext cx="50292" cy="42062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45720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11827"/>
                </a:solidFill>
                <a:latin typeface="Calibri"/>
              </a:rPr>
              <a:t>Milestones — sequenced by dependency, not calendar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960120"/>
            <a:ext cx="1072865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6B7280"/>
                </a:solidFill>
                <a:latin typeface="Calibri"/>
              </a:rPr>
              <a:t>Each ends in something demoable, with explicit exit criteria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481328"/>
          <a:ext cx="10908792" cy="35844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6928"/>
                <a:gridCol w="1920240"/>
                <a:gridCol w="4846320"/>
                <a:gridCol w="3575304"/>
              </a:tblGrid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Milestone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Scope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Exit criterion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4F46E5"/>
                          </a:solidFill>
                          <a:latin typeface="Calibri"/>
                        </a:rPr>
                        <a:t>M0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Calibri"/>
                        </a:rPr>
                        <a:t>Foundation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Calibri"/>
                        </a:rPr>
                        <a:t>Monorepo, Docker Compose, the complete schema in one pass, triggers, seeds, design tokens, CI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6B7280"/>
                          </a:solidFill>
                          <a:latin typeface="Calibri"/>
                        </a:rPr>
                        <a:t>docker compose up gives a migrated, seeded DB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4F46E5"/>
                          </a:solidFill>
                          <a:latin typeface="Calibri"/>
                        </a:rPr>
                        <a:t>M1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Calibri"/>
                        </a:rPr>
                        <a:t>Auth + scope guard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Calibri"/>
                        </a:rPr>
                        <a:t>Argon2id login, JWT + refresh rotation with family revocation, the three guards, permission matrix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6B7280"/>
                          </a:solidFill>
                          <a:latin typeface="Calibri"/>
                        </a:rPr>
                        <a:t>All six roles land correctly; Developer gets 404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4F46E5"/>
                          </a:solidFill>
                          <a:latin typeface="Calibri"/>
                        </a:rPr>
                        <a:t>M2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Calibri"/>
                        </a:rPr>
                        <a:t>Immutability core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Calibri"/>
                        </a:rPr>
                        <a:t>Insert-only services, canonical JSON, per-ticket hash chain, nightly verifier, negative tests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6B7280"/>
                          </a:solidFill>
                          <a:latin typeface="Calibri"/>
                        </a:rPr>
                        <a:t>Verifier passes; no fork under concurrent load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06B6D4"/>
                          </a:solidFill>
                          <a:latin typeface="Calibri"/>
                        </a:rPr>
                        <a:t>M3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Calibri"/>
                        </a:rPr>
                        <a:t>Masters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Calibri"/>
                        </a:rPr>
                        <a:t>13 master screens, client master, the import wizard built once and registered twice, working calendar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6B7280"/>
                          </a:solidFill>
                          <a:latin typeface="Calibri"/>
                        </a:rPr>
                        <a:t>Admin can stand up a tenant without touching the DB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8B5CF6"/>
                          </a:solidFill>
                          <a:latin typeface="Calibri"/>
                        </a:rPr>
                        <a:t>M4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Calibri"/>
                        </a:rPr>
                        <a:t>Tickets + ribbon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Calibri"/>
                        </a:rPr>
                        <a:t>Ticket CRUD, cycles, reopen, comments, attachments, transition service, ribbon, Journey grid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6B7280"/>
                          </a:solidFill>
                          <a:latin typeface="Calibri"/>
                        </a:rPr>
                        <a:t>Walkthrough A reconciles to 38.0 h, 3 iterations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14B8A6"/>
                          </a:solidFill>
                          <a:latin typeface="Calibri"/>
                        </a:rPr>
                        <a:t>M5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Calibri"/>
                        </a:rPr>
                        <a:t>Engines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Calibri"/>
                        </a:rPr>
                        <a:t>SLA + stage-SLA scanners on the working calendar, escalation, mail engine, notification centre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6B7280"/>
                          </a:solidFill>
                          <a:latin typeface="Calibri"/>
                        </a:rPr>
                        <a:t>Scanner escalates, mails, turns the banner red live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4F46E5"/>
                          </a:solidFill>
                          <a:latin typeface="Calibri"/>
                        </a:rPr>
                        <a:t>M6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Calibri"/>
                        </a:rPr>
                        <a:t>Dashboard + reports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Calibri"/>
                        </a:rPr>
                        <a:t>Pre-aggregated summary tables, 20 widgets with drill-down, 18 reports with export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6B7280"/>
                          </a:solidFill>
                          <a:latin typeface="Calibri"/>
                        </a:rPr>
                        <a:t>First paint under 1.5 s at 50,000 tickets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14B8A6"/>
                          </a:solidFill>
                          <a:latin typeface="Calibri"/>
                        </a:rPr>
                        <a:t>M7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Calibri"/>
                        </a:rPr>
                        <a:t>Chat + hardening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Calibri"/>
                        </a:rPr>
                        <a:t>STOMP chat, Ask Status, then CSP, scanning, load test, penetration test, UAT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6B7280"/>
                          </a:solidFill>
                          <a:latin typeface="Calibri"/>
                        </a:rPr>
                        <a:t>Security review passes; UAT signed off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6437376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54335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75488"/>
            <a:ext cx="50292" cy="42062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45720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11827"/>
                </a:solidFill>
                <a:latin typeface="Calibri"/>
              </a:rPr>
              <a:t>Testing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960120"/>
            <a:ext cx="1072865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6B7280"/>
                </a:solidFill>
                <a:latin typeface="Calibri"/>
              </a:rPr>
              <a:t>Weighted toward the three risks the blueprint identifies as most expensive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481328"/>
          <a:ext cx="10908792" cy="34381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1680"/>
                <a:gridCol w="2286000"/>
                <a:gridCol w="6611112"/>
              </a:tblGrid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Tooling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What it must cover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Unit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JUnit 5 + AssertJ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SLA maths on the working calendar, effort roll-ups, iteration/cycle counters, hash canonicalisation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Integration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Testcontainers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Every migration against real MySQL; triggers proven by negative tests; reopen and handoff transactions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EF4444"/>
                          </a:solidFill>
                          <a:latin typeface="Calibri"/>
                        </a:rPr>
                        <a:t>Permission matrix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Parameterised MockMvc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Every role × every route. A new route without a matrix entry fails the build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Architecture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ArchUnit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No controller reaches a repository directly; no update/delete method exists on append-only services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EF4444"/>
                          </a:solidFill>
                          <a:latin typeface="Calibri"/>
                        </a:rPr>
                        <a:t>Concurrency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Custom harness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Parallel ticket creation (no duplicate codes); parallel appends (no chain fork); parallel handoffs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Contract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springdoc + codegen diff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CI fails if the committed TypeScript client is stale against the spec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End-to-end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Playwright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Walkthroughs A, B and C from blueprint §14, against a seeded database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Performance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k6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Dashboard and ticket-list p95 on a 50,000-ticket dataset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6437376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54335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75488"/>
            <a:ext cx="50292" cy="42062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45720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11827"/>
                </a:solidFill>
                <a:latin typeface="Calibri"/>
              </a:rPr>
              <a:t>Risks carried, and four specific to this stack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170432"/>
          <a:ext cx="10908792" cy="2560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120640"/>
                <a:gridCol w="5788152"/>
              </a:tblGrid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Stack-specific risk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Mitigation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11827"/>
                          </a:solidFill>
                          <a:latin typeface="Calibri"/>
                        </a:rPr>
                        <a:t>MySQL trigger protection bypassed by a privileged user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11827"/>
                          </a:solidFill>
                          <a:latin typeface="Calibri"/>
                        </a:rPr>
                        <a:t>The hash chain is the backstop; nightly verification; the app user holds no DDL privilege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11827"/>
                          </a:solidFill>
                          <a:latin typeface="Calibri"/>
                        </a:rPr>
                        <a:t>Generated-column indexes underperform Postgres partial indexes as data grows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11827"/>
                          </a:solidFill>
                          <a:latin typeface="Calibri"/>
                        </a:rPr>
                        <a:t>Benchmark the SLA scan at M5 against 500,000 rows; partition tickets by year if needed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11827"/>
                          </a:solidFill>
                          <a:latin typeface="Calibri"/>
                        </a:rPr>
                        <a:t>OpenAPI client drift between Java and TypeScript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11827"/>
                          </a:solidFill>
                          <a:latin typeface="Calibri"/>
                        </a:rPr>
                        <a:t>CI staleness check fails the build; Bean Validation is the single source of truth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11827"/>
                          </a:solidFill>
                          <a:latin typeface="Calibri"/>
                        </a:rPr>
                        <a:t>Outbox worker falls behind under mail burst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11827"/>
                          </a:solidFill>
                          <a:latin typeface="Calibri"/>
                        </a:rPr>
                        <a:t>SELECT … FOR UPDATE SKIP LOCKED allows horizontal worker scaling; email_log depth is a Prometheus alert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0080" y="3776472"/>
            <a:ext cx="10911535" cy="146304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19" y="3959352"/>
            <a:ext cx="102714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4F46E5"/>
                </a:solidFill>
                <a:latin typeface="Calibri"/>
              </a:rPr>
              <a:t>PLUS THE BLUEPRINT'S OWN REGISTER, UNCHANGED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19" y="4325112"/>
            <a:ext cx="1027145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250" b="0">
                <a:solidFill>
                  <a:srgbClr val="4F46E5"/>
                </a:solidFill>
                <a:latin typeface="Calibri"/>
              </a:rPr>
              <a:t>History integrity challenged in a dispute · notification fatigue · dashboard slowdown · under-logged effort · role-scope leakage · ribbon unreadable at 8 stages · teams gaming the stage clock · missed alerts · client import corruption · malicious uploads · internal notes leaking to a client.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37376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54335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4F46E5"/>
              </a:gs>
              <a:gs pos="100000">
                <a:srgbClr val="1E1B4B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91153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What happens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627632"/>
            <a:ext cx="1188720" cy="36576"/>
          </a:xfrm>
          <a:prstGeom prst="rect">
            <a:avLst/>
          </a:prstGeom>
          <a:solidFill>
            <a:srgbClr val="A5B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2057400"/>
            <a:ext cx="10362895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2286000"/>
            <a:ext cx="97228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4F46E5"/>
                </a:solidFill>
                <a:latin typeface="Calibri"/>
              </a:rPr>
              <a:t>IMMEDIATE NEXT STEP  ·  M0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670048"/>
            <a:ext cx="97228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111827"/>
                </a:solidFill>
                <a:latin typeface="Calibri"/>
              </a:rPr>
              <a:t>Repo scaffold, Docker Compose, the complete Flyway migration set translated per §3, seed data, and the design tokens — a running, migrated stack to inspect before any feature work begins.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94760"/>
            <a:ext cx="1091153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A5B4FC"/>
                </a:solidFill>
                <a:latin typeface="Calibri"/>
              </a:rPr>
              <a:t>BLOCKING ON NOTHING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160520"/>
            <a:ext cx="1036289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The four governance decisions are needed before M2, not before M0.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The SSO / directory question is needed before M1.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603504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818CF8"/>
                </a:solidFill>
                <a:latin typeface="Calibri"/>
              </a:rPr>
              <a:t>PLAN.md  ·  TEAM-PLAN.md  ·  GETTING-STARTED.md  ·  docs/streams/STREAM-A…D.md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