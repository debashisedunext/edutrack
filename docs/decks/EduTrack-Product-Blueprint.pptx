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A5B4FC"/>
                </a:solidFill>
                <a:latin typeface="Calibri"/>
              </a:rPr>
              <a:t>EDUTRACK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Organisation Task &amp;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Client Ticketing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69080"/>
            <a:ext cx="1371600" cy="41148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70832"/>
            <a:ext cx="99971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34 screens · 6 roles · ~28 tables · 20 dashboard widgets · 18 reports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C7D2FE"/>
                </a:solidFill>
                <a:latin typeface="Calibri"/>
              </a:rPr>
              <a:t>Complete product, architecture &amp; UI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What EduTrack merges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Two things most organisations run as separate products, unified on one work item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0"/>
                <a:gridCol w="450799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Reference product we borrow from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Project + task assignment, sprints, velocity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6B7280"/>
                          </a:solidFill>
                          <a:latin typeface="Calibri"/>
                        </a:rPr>
                        <a:t>Jira Software · Azure DevOps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Client ticket intake, SLA, escalation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6B7280"/>
                          </a:solidFill>
                          <a:latin typeface="Calibri"/>
                        </a:rPr>
                        <a:t>Zoho Desk · Freshdesk · Zendesk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Quick update / personal work queue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6B7280"/>
                          </a:solidFill>
                          <a:latin typeface="Calibri"/>
                        </a:rPr>
                        <a:t>Linear · ClickUp "My Work"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Chat threaded on the work item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6B7280"/>
                          </a:solidFill>
                          <a:latin typeface="Calibri"/>
                        </a:rPr>
                        <a:t>Slack + Jira — unified here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Analytical dashboards with drill-down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6B7280"/>
                          </a:solidFill>
                          <a:latin typeface="Calibri"/>
                        </a:rPr>
                        <a:t>Jira Dashboards · Freshdesk Analytics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270248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480560"/>
            <a:ext cx="1027145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An internal, multi-project task and client ticketing platform.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The unification is the point: a ticket carries its project work, its client relationship, its SLA and its conversation in one place — so nobody reconciles two systems to answer one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Six things that make it more than a Jira clone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1408176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38988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Cycle-based reopen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7373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Every reopen creates a new cycle with its own start date, assignee, planned close date and effort. Nothing is overwritten, ever.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70432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9672" y="1408176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472184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138988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Immutable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17373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Resources update state, never history. Append-only at the database level, not just in the UI.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270662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770632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688336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Automatic criticality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035808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 ticket crossing its Planned Close Date is auto-promoted to Critical and pushed to the reporting manager.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468880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9672" y="2706624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770632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2688336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Chat attached to the ticket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3035808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The manager's "what's the status?" becomes a first-class, trackable, timed event — not a side channel.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67328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4005072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069080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3986784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The Workflow Ribbon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4334256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 live journey strip showing the full Support → PM → Dev → QA → Deploy → Close chain, where the ticket is, how many times it bounced, and each person's effort.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767328"/>
            <a:ext cx="533095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19672" y="4005072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4069080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3986784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827"/>
                </a:solidFill>
                <a:latin typeface="Calibri"/>
              </a:rPr>
              <a:t>Client-aware from the first field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4334256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Client master with Excel import, client dropdown on every ticket, client-visible vs internal comments, mail threading back as comments.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Six roles, extensible via a role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QA and Deployment exist because the ribbon needs a receiving role that owns each stage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1" cy="3227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1060704"/>
                <a:gridCol w="1060704"/>
                <a:gridCol w="1060704"/>
                <a:gridCol w="1060704"/>
                <a:gridCol w="1060704"/>
                <a:gridCol w="1033271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Create/edit resources, roles, reporting manager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Create/edit projects, map resources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 own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Create ticket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Assign / reassign ticket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 own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Hand off to next stage · send back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Skip a stage · force-move ribbon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View all tickets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proj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proj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mine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mine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mine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Close / reopen ticket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Edit or delete history / ribbon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882896"/>
            <a:ext cx="10911535" cy="65836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02920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991B1B"/>
                </a:solidFill>
                <a:latin typeface="Calibri"/>
              </a:rPr>
              <a:t>Nobody — including Admin — can edit or delete history or the ribbon. That row is ✘ across all six columns by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Two orthogonal scopes decide visibility on every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898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ROLE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What the role is allowed to do.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Create, assign, close, configure masters.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70432"/>
            <a:ext cx="5285232" cy="14173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38988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65F46"/>
                </a:solidFill>
                <a:latin typeface="Calibri"/>
              </a:rPr>
              <a:t>ROW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73736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onsolas"/>
              </a:rPr>
              <a:t>assignee = me  OR  reported_by = me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onsolas"/>
              </a:rPr>
              <a:t>OR project_id IN my_projects  OR  assignee IN my_reportees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62072"/>
            <a:ext cx="10911535" cy="12344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3044952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A5B4FC"/>
                </a:solidFill>
                <a:latin typeface="Calibri"/>
              </a:rPr>
              <a:t>THE SINGLE MOST IMPORTANT SECURITY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3410712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 Developer's ticket list is always forcibly filtered by assigned_to = current_user_id, injected by a server-side scope guard — never by a front-end filter.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70832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535424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GOLDEN RULE OF THE RIBBON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84632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11827"/>
                </a:solidFill>
                <a:latin typeface="Calibri"/>
              </a:rPr>
              <a:t>Only the current stage owner — plus PM and Admin — can move a ticket to the next stage. A Developer cannot push a ticket into Deployment while it is sitting with QA.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Two layers: stage and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Orthogonal, and both are needed — the ribbon alone cannot tell you whether work is moving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4754880"/>
                <a:gridCol w="469087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Stage  (the ribbon)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Answers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Which team owns it right now?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Is work moving, or blocked?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Values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Intake · Triage · Development · QA · Deployment · Verification · Sign-off · Closed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New · In Progress · On Hold · Awaiting Info · Rework · Resolved · Closed · Reopened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Changes 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A handoff between teams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A day-to-day update by the owner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111827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Stage owner role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0">
                          <a:solidFill>
                            <a:srgbClr val="111827"/>
                          </a:solidFill>
                          <a:latin typeface="Calibri"/>
                        </a:rPr>
                        <a:t>Assignee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608576"/>
            <a:ext cx="10911535" cy="11430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791456"/>
            <a:ext cx="102714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A ticket can be In Progress in the QA stage, or On Hold in the Deployment stage.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F46E5"/>
                </a:solidFill>
                <a:latin typeface="Calibri"/>
              </a:rPr>
              <a:t>Without both, you cannot distinguish "sitting in QA because Anil is busy" from "sitting in QA because the test environment is down".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End-to-end operational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Seven phases, from intake to reopen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0292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276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16276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609344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Support Desk / PM / client raises a ticket, or the email parser does. ID auto-generated: CRM-26-00347. SLA policy resolves the planned close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84832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57984"/>
            <a:ext cx="50292" cy="3840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2311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223113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212848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PM or Support validates, sets level, assigns. Cycle #1 stamped. Real-time popup + bell + email to the assignee within ~1 second.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88336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761488"/>
            <a:ext cx="50292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8346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28346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816352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Moves along the ribbon. At every hop: effort attributed to that resource, time-in-stage stamped, an append-only transition row written.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91840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364992"/>
            <a:ext cx="50292" cy="3840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438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43814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419856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Scheduler every 15 minutes: past planned close → Critical + alert to reporting manager. 80% elapsed → pre-breach warning. No update in N days → nudge.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95344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968496"/>
            <a:ext cx="50292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0416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7" y="404164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STATUS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023360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Manager clicks Ask Status → templated message into the ticket's chat thread. Response time is recorded as a metric.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498848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572000"/>
            <a:ext cx="50292" cy="3840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6451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06B6D4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7" y="464515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CLOSURE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626864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Resource marks Resolved → PM/Support verifies → Closed. Actual close date stamped, cycle effort frozen, optional CSAT.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102352"/>
            <a:ext cx="10911535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175504"/>
            <a:ext cx="50292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7" y="524865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11827"/>
                </a:solidFill>
                <a:latin typeface="Calibri"/>
              </a:rPr>
              <a:t>REOPEN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5230368"/>
            <a:ext cx="83969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Reason mandatory. Cycle #1 sealed read-only forever. Cycle #2 opens with fresh dates and its own ribbon. Total effort = Σ all cycles.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reopen &amp; history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Three layers, each with a different job — this is where most in-house ticketing tools fail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743200"/>
                <a:gridCol w="4206240"/>
                <a:gridCol w="2130552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Mutability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Current state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Fast reads, list views, dashboards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3B82F6"/>
                          </a:solidFill>
                          <a:latin typeface="Calibri"/>
                        </a:rPr>
                        <a:t>Updatable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Cycle snapshot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ticket_cycles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One row per open → close round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59E0B"/>
                          </a:solidFill>
                          <a:latin typeface="Calibri"/>
                        </a:rPr>
                        <a:t>Insert; sealed on close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Change trail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ticket_history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Every single field change, who and when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F4444"/>
                          </a:solidFill>
                          <a:latin typeface="Calibri"/>
                        </a:rPr>
                        <a:t>APPEND-ONLY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Effort trail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ticket_effort_logs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Every hour logged, by whom, on which date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F4444"/>
                          </a:solidFill>
                          <a:latin typeface="Calibri"/>
                        </a:rPr>
                        <a:t>APPEND-ONLY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111827"/>
                          </a:solidFill>
                          <a:latin typeface="Calibri"/>
                        </a:rPr>
                        <a:t>Stage trail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ticket_stage_transitions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Every hop — this table IS the ribbon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F4444"/>
                          </a:solidFill>
                          <a:latin typeface="Calibri"/>
                        </a:rPr>
                        <a:t>APPEND-ONLY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31596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WHAT A REOPEN ACTUALLY DOES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45152"/>
            <a:ext cx="10911535" cy="109728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4791456"/>
            <a:ext cx="10509199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BEGIN;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UPDATE ticket_cycles SET is_sealed = true WHERE ticket_id = :id AND cycle_no = :current;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INSERT INTO ticket_cycles (…, cycle_no, start_date, assigned_to, planned_close_date, reopen_reason)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  UPDATE tickets SET status='REOPENED', current_cycle_no = :current+1, reopen_count = reopen_count+1;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E5E8F0"/>
                </a:solidFill>
                <a:latin typeface="Consolas"/>
              </a:rPr>
              <a:t>COMMIT;        -- effort from cycle 1 is never touched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How history is made tamper-proof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Four independent guards — defence in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55643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81328"/>
            <a:ext cx="2556433" cy="640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92224"/>
            <a:ext cx="20809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208094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Calibri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78608"/>
            <a:ext cx="208094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No service method exists that issues UPDATE or DELETE on the protected tables. Only insert() is exposed.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5113" y="1481328"/>
            <a:ext cx="255643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5113" y="1481328"/>
            <a:ext cx="2556433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2857" y="1792224"/>
            <a:ext cx="20809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857" y="2139696"/>
            <a:ext cx="208094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2857" y="2578608"/>
            <a:ext cx="208094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The app's DB role holds INSERT and SELECT grants only. A BEFORE UPDATE OR DELETE trigger raises an exception.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481328"/>
            <a:ext cx="255643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481328"/>
            <a:ext cx="2556433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7891" y="1792224"/>
            <a:ext cx="20809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7891" y="2139696"/>
            <a:ext cx="208094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Calibri"/>
              </a:rP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7891" y="2578608"/>
            <a:ext cx="208094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No PUT, PATCH or DELETE routes are registered. A correction is a new compensating entry — exactly like an accounting reversal.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5181" y="1481328"/>
            <a:ext cx="2556433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5181" y="1481328"/>
            <a:ext cx="2556433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2925" y="1792224"/>
            <a:ext cx="20809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2925" y="2139696"/>
            <a:ext cx="208094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Calibri"/>
              </a:rPr>
              <a:t>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2925" y="2578608"/>
            <a:ext cx="208094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Each row stores prev_hash + row_hash as a SHA-256 chain. A nightly job verifies it; a break raises an admin alert.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61688"/>
            <a:ext cx="10911535" cy="12344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454456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A5B4FC"/>
                </a:solidFill>
                <a:latin typeface="Calibri"/>
              </a:rPr>
              <a:t>WHY FOUR AND NOT 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" y="4882896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The hash chain makes even direct database tampering detectable. For a Developer, the history grid renders with no edit or delete affordance at all — and the API would reject it even if the DOM were manipulated.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Workflow Ribbon — eight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A live journey strip pinned to the top of every ticket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1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103120"/>
                <a:gridCol w="2103120"/>
                <a:gridCol w="2286000"/>
                <a:gridCol w="2926080"/>
                <a:gridCol w="1033271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Owner role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Enters when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Leaves when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SLA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Intake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Support Desk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Ticket created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Details validated, project tagged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2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Triage / Planning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Support hands off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Level set + developer assigned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4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PM assigns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 marks Ready for QA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per SLA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QA / Testing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 hands off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 marks Pass or Fail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8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Deployment / DevOps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 passes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Deploy marked done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4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Verification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Deploy hands back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 confirms in target env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4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Sign-off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PM / Support Desk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 marks complete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PM/Support accepts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8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Sign-off accepted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terminal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91456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956048"/>
            <a:ext cx="102714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Not every project needs eight stages. Templates — Standard Dev Flow (8) · Support Fast-Track (5) · Infra Flow (5) — are mapped per project × task type. The ribbon renders whatever the template defines; no code change to add a stage.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Loop-backs, and two counters that are easy to confuse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LOOP-BACKS  ·  each increments the iteration counter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99616"/>
          <a:ext cx="539496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103120"/>
                <a:gridCol w="150876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Loop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From → To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Rework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 → Development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REWORK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Deployment failure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Deployment → Development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DEPLOY_FAILED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Verification failure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Verification → Development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VERIFY_FAILED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Rejected at sign-off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Sign-off → Development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SIGNOFF_REJECTED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Clarification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Development → Triage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CLARIFICATION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Force move  (PM/Admin)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any → any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OVERRIDE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50791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F4444"/>
                </a:solidFill>
                <a:latin typeface="Calibri"/>
              </a:rPr>
              <a:t>Every backward move requires a reason.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70432"/>
            <a:ext cx="5242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ITERATIONS vs CYCLES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99616"/>
            <a:ext cx="5242255" cy="1298448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82496"/>
            <a:ext cx="4693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92400E"/>
                </a:solidFill>
                <a:latin typeface="Calibri"/>
              </a:rPr>
              <a:t>ITERATION  (iteration_no)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6936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Increments when the ticket is pushed backwards in the ribbon.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92400E"/>
                </a:solidFill>
                <a:latin typeface="Calibri"/>
              </a:rPr>
              <a:t>Scope: within one 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53512"/>
            <a:ext cx="5242255" cy="129844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136391"/>
            <a:ext cx="4693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CYCLE  (cycle_no)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65576"/>
            <a:ext cx="46936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Increments when the ticket is reopened after closure.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Scope: the whole ticket. Each cycle has its own ribbon.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416552"/>
            <a:ext cx="5242255" cy="841248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599432"/>
            <a:ext cx="46936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Cycle 2 · Iteration 3 · currently in QA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Closed once, reopened, and QA has already bounced it twice this life.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What the ribbon renders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Every segment shows five things · six visual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931920" cy="21488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709928"/>
            <a:ext cx="3474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┌───────────────┐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│ ✔ Development │  ← stage + state icon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│ Ravi Kumar    │  ← owner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│ 3d 4h         │  ← time in stage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│ 14.5 h effort │  ← effort in stage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│ ↺ ×2          │  ← loop-back badge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E5E8F0"/>
                </a:solidFill>
                <a:latin typeface="Consolas"/>
              </a:rPr>
              <a:t>└───────────────┘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46320" y="1481328"/>
          <a:ext cx="6702552" cy="2340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450799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Segment state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Visual treatment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0B981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Solid tick, green accent, filled connector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4F46E5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Indigo fill, pulse ring, "Now" label, live elapsed timer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6B7280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Outlined, muted text, dashed connector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59E0B"/>
                          </a:solidFill>
                          <a:latin typeface="Calibri"/>
                        </a:rPr>
                        <a:t>Reworked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Amber left edge + ↺ ×N badge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6B7280"/>
                          </a:solidFill>
                          <a:latin typeface="Calibri"/>
                        </a:rPr>
                        <a:t>Skipped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Dashed outline, strikethrough, hover shows who authorised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EF4444"/>
                          </a:solidFill>
                          <a:latin typeface="Calibri"/>
                        </a:rPr>
                        <a:t>Blocked / breached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111827"/>
                          </a:solidFill>
                          <a:latin typeface="Calibri"/>
                        </a:rPr>
                        <a:t>Grey with pause icon, or red past stage SLA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3904487"/>
            <a:ext cx="10911535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4087368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INTERACTIONS</a:t>
            </a:r>
          </a:p>
        </p:txBody>
      </p:sp>
      <p:sp>
        <p:nvSpPr>
          <p:cNvPr id="11" name="Oval 10"/>
          <p:cNvSpPr/>
          <p:nvPr/>
        </p:nvSpPr>
        <p:spPr>
          <a:xfrm>
            <a:off x="960119" y="447598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7" y="4407408"/>
            <a:ext cx="99788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111827"/>
                </a:solidFill>
                <a:latin typeface="Calibri"/>
              </a:rPr>
              <a:t>Click a segment </a:t>
            </a:r>
            <a:r>
              <a:rPr sz="1200">
                <a:solidFill>
                  <a:srgbClr val="6B7280"/>
                </a:solidFill>
                <a:latin typeface="Calibri"/>
              </a:rPr>
              <a:t>— filters the History, Effort and Chat tabs below to just that stage and iteration.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960119" y="484174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7" y="4773168"/>
            <a:ext cx="99788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111827"/>
                </a:solidFill>
                <a:latin typeface="Calibri"/>
              </a:rPr>
              <a:t>Current segment </a:t>
            </a:r>
            <a:r>
              <a:rPr sz="1200">
                <a:solidFill>
                  <a:srgbClr val="6B7280"/>
                </a:solidFill>
                <a:latin typeface="Calibri"/>
              </a:rPr>
              <a:t>— carries the contextual action inline: Hand off to QA → · Pass / Fail · Mark deployed. Hidden for everyone else.</a:t>
            </a:r>
          </a:p>
        </p:txBody>
      </p:sp>
      <p:sp>
        <p:nvSpPr>
          <p:cNvPr id="15" name="Oval 14"/>
          <p:cNvSpPr/>
          <p:nvPr/>
        </p:nvSpPr>
        <p:spPr>
          <a:xfrm>
            <a:off x="960119" y="5207508"/>
            <a:ext cx="77724" cy="7772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7" y="5138928"/>
            <a:ext cx="99788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111827"/>
                </a:solidFill>
                <a:latin typeface="Calibri"/>
              </a:rPr>
              <a:t>Compact ribbon in lists </a:t>
            </a:r>
            <a:r>
              <a:rPr sz="1200">
                <a:solidFill>
                  <a:srgbClr val="6B7280"/>
                </a:solidFill>
                <a:latin typeface="Calibri"/>
              </a:rPr>
              <a:t>— eight dots per row, so a manager scans a whole grid and sees where every ticket sits.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Effort attribution per resource, per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The panel under the ribbon — "what did your team actually do on this issue?"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9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194560"/>
                <a:gridCol w="1828800"/>
                <a:gridCol w="914400"/>
                <a:gridCol w="1737360"/>
                <a:gridCol w="1463040"/>
                <a:gridCol w="23134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Intake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Priya N.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SUP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1h 10m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0.5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Triage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Meera P.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3h 20m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1.0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Ravi K.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2d 1h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9.0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Anil S.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6h 40m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3.5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✗ Failed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Ravi K.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1d 2h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5.5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59E0B"/>
                          </a:solidFill>
                          <a:latin typeface="Calibri"/>
                        </a:rPr>
                        <a:t>↺ rework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Anil S.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4h 05m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2.0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✓ Passed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Karan D.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DEP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5h 30m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1.5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TOTAL — Cycle 2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5d 3h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24.5 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TOTAL — all cycles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12d 6h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38.0 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681728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846320"/>
            <a:ext cx="1027145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065F46"/>
                </a:solidFill>
                <a:latin typeface="Calibri"/>
              </a:rPr>
              <a:t>Active time = Σ effort logged in that stage.    Idle / queue time = duration in stage − active time.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065F46"/>
                </a:solidFill>
                <a:latin typeface="Calibri"/>
              </a:rPr>
              <a:t>A stage with 2 days duration and 2 hours of effort is a QUEUE problem, not a capacity problem — and that single insight is usually worth the whole ribbon feature.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The ticket page — five capabilities that make it 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Individually small; together they are what a support desk handling real client traffic needs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50292" cy="5760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Priority dropdown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27632"/>
            <a:ext cx="7894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Colour chips, not plain text. Pre-filled from the task type. Changing it recomputes and previews the planned close date before you commit. Mandatory reason once assigned.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0911535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50292" cy="5760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06B6D4"/>
                </a:solidFill>
                <a:latin typeface="Calibri"/>
              </a:rPr>
              <a:t>Client + 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78024"/>
            <a:ext cx="7894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Type-ahead over name, code and domain, filtered to the project's clients. Dependent contact dropdown with inline "+ Add contact" so the desk never leaves the 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2"/>
            <a:ext cx="10911535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73552"/>
            <a:ext cx="50292" cy="5760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381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Attachments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28416"/>
            <a:ext cx="7894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Drag-drop, file picker, and paste from clipboard — the last matters most, because pasting a screenshot straight from Snipping Tool is the most common attachment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32504"/>
            <a:ext cx="10911535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23944"/>
            <a:ext cx="50292" cy="57607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885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Comment 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178808"/>
            <a:ext cx="7894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Rich text, @mentions, internal vs client-visible toggle, 5-minute edit window then locked. Stamped with the stage and iteration it was written 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82896"/>
            <a:ext cx="10911535" cy="758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974336"/>
            <a:ext cx="50292" cy="5760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38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Mail alert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029200"/>
            <a:ext cx="7894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A mail fires on every stage transition and every event that changes who is responsible. Queued, templated, threaded, logged, retried.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Comments interleave into one chronological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So "what happened on this ticket" is a single readable timeline, not two lists to reconcile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251460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10509199" cy="2221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06 Aug 14:22   💬  Ravi Kumar (Developer) · Development · iteration 2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             "Root cause is the retry timeout. Patch pushed, ready for QA."       [internal]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06 Aug 14:25   ➡  Handoff   Development → QA    Ravi Kumar → Anil Sharma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             Note: "Please retest the checkout path on staging"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06 Aug 16:40   🔺  Level changed   High → Critical    by System (SLA breach)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07 Aug 09:15   💬  Anil Sharma (QA) · QA · iteration 2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               "Verified on staging, three of three defects closed."                [internal]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07 Aug 09:16   📎  Attachment added   qa-signoff-report.pdf (412 KB)   by Anil Sharma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70248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53128"/>
            <a:ext cx="4800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Comments are the permanent record.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4F46E5"/>
                </a:solidFill>
                <a:latin typeface="Calibri"/>
              </a:rPr>
              <a:t>Chat is conversational and ephemeral; comments are auditable, stamped with stage and iteration, and immutable after five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270248"/>
            <a:ext cx="5287975" cy="12984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453128"/>
            <a:ext cx="4739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91B1B"/>
                </a:solidFill>
                <a:latin typeface="Calibri"/>
              </a:rPr>
              <a:t>Default to internal, always.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91B1B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991B1B"/>
                </a:solidFill>
                <a:latin typeface="Calibri"/>
              </a:rPr>
              <a:t>An accidental leak to a client is far costlier than an extra click. Client-visible renders in a different colour before you post.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Client master &amp; Excel bulk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A five-step wizard, because a silent import that half-succeeds is worse than no import at 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1618488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73352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56362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alibri"/>
              </a:rPr>
              <a:t>DOWNLOAD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830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Pre-formatted .xlsx with exact headers, validation dropdowns and one example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22402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295144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8541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alibri"/>
              </a:rPr>
              <a:t>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4048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Drag-drop .xlsx/.csv, max 5 MB, up to 5,000 rows, parsed server-side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24912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2862072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16936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80720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alibri"/>
              </a:rPr>
              <a:t>MAP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302666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Auto-matched by header with manual override. Presets saved for next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46704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348386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538728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4290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alibri"/>
              </a:rPr>
              <a:t>VALIDATE + PREVIEW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64845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Dry run — nothing written. Per-row: will create · will update · duplicate · rejected + reason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68496"/>
            <a:ext cx="60350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7" y="4105656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160520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405079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11827"/>
                </a:solidFill>
                <a:latin typeface="Calibri"/>
              </a:rPr>
              <a:t>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27024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Background job with progress. Downloadable error report for every rejected row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1481328"/>
            <a:ext cx="4602175" cy="16002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1664208"/>
            <a:ext cx="4053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065F46"/>
                </a:solidFill>
                <a:latin typeface="Calibri"/>
              </a:rPr>
              <a:t>VALIDATION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011680"/>
            <a:ext cx="4053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065F46"/>
                </a:solidFill>
                <a:latin typeface="Calibri"/>
              </a:rPr>
              <a:t>Client code unique · name required · email format · country against ISO list · duplicate detection on code then email domain · existing records UPDATED, never duplicated (upsert on code)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3264408"/>
            <a:ext cx="4602175" cy="13258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3447288"/>
            <a:ext cx="405353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4F46E5"/>
                </a:solidFill>
                <a:latin typeface="Calibri"/>
              </a:rPr>
              <a:t>Every import writes an import_batch row — so a bad import can be identified and reversed as a set.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4F46E5"/>
                </a:solidFill>
                <a:latin typeface="Calibri"/>
              </a:rPr>
              <a:t>Same wizard registered twice: clients and resources.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4773168"/>
            <a:ext cx="4602175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4937760"/>
            <a:ext cx="4053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Deactivating a client with open tickets warns and blocks new tickets — but never hides historical ones.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Mail is the guaranteed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In-app popups only reach someone who is logged in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2798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2011680"/>
                <a:gridCol w="4297680"/>
                <a:gridCol w="15819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Subject pattern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Optional?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Ticket assigned to you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Assignee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New ticket assigned — Critical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never optional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Handoff — ribbon moves to you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New stage owner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Handed to you at QA by Ravi Kumar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never optional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Sent back for rework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Developer, cc PM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QA failed — 3 defects returned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never optional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Escalated to Critical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Assignee, PM, RM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Escalated to CRITICAL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never optional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SLA breached / delayed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Assignee, PM, RM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Overdue by 3 days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</a:rPr>
                        <a:t>never optional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Comment added · @mention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Assignee, watchers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[CRM-26-00347] New comment from Meera Prasad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digest option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Daily digest 08:30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Everyone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Your open tickets — 4 due today, 1 overdue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0B981"/>
                          </a:solidFill>
                          <a:latin typeface="Calibri"/>
                        </a:rPr>
                        <a:t>opt-out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98848"/>
            <a:ext cx="10911535" cy="109728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663440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Calibri"/>
              </a:rPr>
              <a:t>ENGINEERING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4983480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Queued, never sent inline — a slow SMTP server must never slow a handoff.   ·   Message-ID / In-Reply-To keyed on the ticket, so a whole ticket collapses into one thread.   ·   Every send logged; 3 retries; bounce webhooks.   ·   One mail per recipient per ticket per minute.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Effort, velocity and SLA — the calculations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70432"/>
            <a:ext cx="5349240" cy="288036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16736"/>
            <a:ext cx="4946903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Effort variance %  = (logged − estimated) / estimated × 100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Cycle time         = actual_close − cycle.start   (working hrs)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Lead time          = actual_close − date_reported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SLA compliance %   = closed_within_pcd / total_closed × 100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Reopen rate %      = tickets_reopened / total_closed × 100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/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Time in stage      = exited_at − entered_at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Active in stage    = Σ effort with that stage + iteration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Idle / queue time  = time in stage − active time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Rework rate %      = iteration_no &gt; 1 / total × 100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Handoff latency    = next entered_at − prev exited_at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00" b="0">
                <a:solidFill>
                  <a:srgbClr val="E5E8F0"/>
                </a:solidFill>
                <a:latin typeface="Consolas"/>
              </a:rPr>
              <a:t>First-time-right % = closed at iteration 1 / total closed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70432"/>
            <a:ext cx="5287975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371600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F46E5"/>
                </a:solidFill>
                <a:latin typeface="Calibri"/>
              </a:rPr>
              <a:t>RESOURCE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19072"/>
            <a:ext cx="4739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Tickets closed per week (count) AND effort-weighted: Σ effort-hours closed per week.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Utilisation % = logged hours / available hours.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724912"/>
            <a:ext cx="5287975" cy="13258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2400E"/>
                </a:solidFill>
                <a:latin typeface="Calibri"/>
              </a:rPr>
              <a:t>THE WORKING CALENDAR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273552"/>
            <a:ext cx="4739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2400E"/>
                </a:solidFill>
                <a:latin typeface="Calibri"/>
              </a:rPr>
              <a:t>Weekends + org holidays + resource leave — so a ticket raised Friday 6 PM with a 4-hour SLA isn't breached on Saturday morning.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33672"/>
            <a:ext cx="10911535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4398264"/>
            <a:ext cx="102714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ESCALATION ENGINE  ·  scheduled worker every 15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718304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80% of SLA elapsed → warning   ·   past planned close → level becomes CRITICAL, alert to Reporting Manager   ·   delayed &gt; 48 h → escalate to L2   ·   no update in 3 working days → nudge   ·   unassigned &gt; 2 h → triage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34 screens across 8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maps 1:1 to a Figma frame and a Jira epic, so design, dev and QA share one identifier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45720" cy="3383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1848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F46E5"/>
                </a:solidFill>
                <a:latin typeface="Consolas"/>
              </a:rPr>
              <a:t>S-01 … S-04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0020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Login · forgot/reset · change password · 2FA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2996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45720" cy="3383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1671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Common 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16712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06B6D4"/>
                </a:solidFill>
                <a:latin typeface="Consolas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14884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Sidebar · top bar · global search · notification bell · toast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57860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651760"/>
            <a:ext cx="45720" cy="3383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271576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71576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B5CF6"/>
                </a:solidFill>
                <a:latin typeface="Consolas"/>
              </a:rPr>
              <a:t>S-05, S-06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69748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Role-aware dashboard · chart drill-down modal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12724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200400"/>
            <a:ext cx="45720" cy="3383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2644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Master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26440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4B8A6"/>
                </a:solidFill>
                <a:latin typeface="Consolas"/>
              </a:rPr>
              <a:t>S-07 … S-16, S-32 … S-34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24612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Resource · role · project · task type · priority · client · import wizard · workflow templates · calendar · notification templates · audit 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7588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749040"/>
            <a:ext cx="45720" cy="3383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38130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Tickets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81304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F46E5"/>
                </a:solidFill>
                <a:latin typeface="Consolas"/>
              </a:rPr>
              <a:t>S-17 … S-24, S-29 … S-31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79476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List · My Tasks · create · detail · quick update · reopen · close · bulk reassign · handoff · template designer · stage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22452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297680"/>
            <a:ext cx="45720" cy="3383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3616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36168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06B6D4"/>
                </a:solidFill>
                <a:latin typeface="Consolas"/>
              </a:rPr>
              <a:t>S-25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34340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Ticket thread · direct message · project channel · Ask 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773168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846320"/>
            <a:ext cx="45720" cy="3383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9103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Notifications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491032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B5CF6"/>
                </a:solidFill>
                <a:latin typeface="Consolas"/>
              </a:rPr>
              <a:t>S-26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4892040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Notification centre · per-user preference matrix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321807"/>
            <a:ext cx="10911535" cy="484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394959"/>
            <a:ext cx="45720" cy="3383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545896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545896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14B8A6"/>
                </a:solidFill>
                <a:latin typeface="Consolas"/>
              </a:rPr>
              <a:t>S-27, S-28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5440679"/>
            <a:ext cx="6339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Reports hub — 18 reports · Resource 360° profile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Dashboard — 20 widgets, every one drill-down enabled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Each card and chart segment deep-links to a pre-filtered ticket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6751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KPI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Total created · Open/pending · Closed · Critical · Delayed · Reopened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57984"/>
            <a:ext cx="66751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06B6D4"/>
                </a:solidFill>
                <a:latin typeface="Calibri"/>
              </a:rPr>
              <a:t>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05456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Task-type donut · Priority bar · Project treemap · Aging buckets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40"/>
            <a:ext cx="66751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3522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B5CF6"/>
                </a:solidFill>
                <a:latin typeface="Calibri"/>
              </a:rPr>
              <a:t>Trend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Daily status stacked area · Resource velocity multi-line · Date-wise heatmap · Handoff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11296"/>
            <a:ext cx="66751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4B8A6"/>
                </a:solidFill>
                <a:latin typeface="Calibri"/>
              </a:rPr>
              <a:t>Load &amp; 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58768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Resource-wise load bar · SLA compliance radial gauge · Client-wise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87952"/>
            <a:ext cx="667512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885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Ribbon-driven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35424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Stage funnel (WIP) · Rework / ping-pong tickets · Avg time per stage, active vs idle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19" y="1481328"/>
            <a:ext cx="3962095" cy="1645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682496"/>
            <a:ext cx="341345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Developer's dashboard shows only 8 of the 20, scoped to assignee = me — plus "My due today / this week".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Role-awareness is enforced server-side, not by hiding cards.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19" y="3310128"/>
            <a:ext cx="3962095" cy="15544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493008"/>
            <a:ext cx="34134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alibri"/>
              </a:rPr>
              <a:t>Reads come from pre-aggregated summary tables refreshed every 5 minutes.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065F46"/>
                </a:solidFill>
                <a:latin typeface="Calibri"/>
              </a:rPr>
              <a:t>Never a live COUNT(*) over the full ticket 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18 reports — all filterable, exportable and schedulable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Excel · CSV · PDF, with daily / weekly / monthly email scheduling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2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70683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answers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Resource Performance Scorecard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Assigned, closed, on-time, SLA %, cycle time, variance, reopen rate, utilisation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Resource Velocity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Tickets &amp; effort-hours closed per week, 4-week rolling average, multi-resource comparison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Effort Summary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Effort by resource × project × task type, pivot-style with drill-down to individual logs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Delayed / SLA Breach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Every breach, days overdue, escalation level, reason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Stage Funnel / WIP · Stage Cycle Time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Live count per stage, bottleneck highlighted; avg time split into active vs idle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Rework Analysis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Rework rate by developer, QA rejection rate, first-time-right %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Resource Contribution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The per-resource-per-stage roll-up, across any ticket set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Audit / Compliance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Full immutable trail export for a ticket or date range, including every handoff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Client Report · Email Delivery Log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Volume, SLA and satisfaction per client; every alert sent, with delivery status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828032"/>
            <a:ext cx="10911535" cy="749808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4992624"/>
            <a:ext cx="1027145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Plus: Task Type Analysis · Reopen Analysis · Date-wise · Project Health · Aging · Workload/Capacity · Deployment Report.   Resource 360° Profile reaches all of it in one click from anywhere a name appears.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Design system — light theme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WCAG AA on every token, keyboard navigable, prefers-reduced-motion respected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1645920" cy="54864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bg-app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#F7F8FC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481328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#FFFFFF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81328"/>
            <a:ext cx="1645920" cy="548640"/>
          </a:xfrm>
          <a:prstGeom prst="roundRect">
            <a:avLst/>
          </a:prstGeom>
          <a:solidFill>
            <a:srgbClr val="F1F3F9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subtle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#F1F3F9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81328"/>
            <a:ext cx="1645920" cy="548640"/>
          </a:xfrm>
          <a:prstGeom prst="roundRect">
            <a:avLst/>
          </a:prstGeom>
          <a:solidFill>
            <a:srgbClr val="E5E8F0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border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#E5E8F0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481328"/>
            <a:ext cx="1645920" cy="54864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primary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#4F46E5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481328"/>
            <a:ext cx="1645920" cy="548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0848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primary-soft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2677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#EEF2FF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441448"/>
            <a:ext cx="1645920" cy="548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#111827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2441448"/>
            <a:ext cx="1645920" cy="548640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text-2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#6B7280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2441448"/>
            <a:ext cx="1645920" cy="5486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success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#10B981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441448"/>
            <a:ext cx="1645920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#F59E0B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79" y="2441448"/>
            <a:ext cx="1645920" cy="54864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danger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#EF4444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2441448"/>
            <a:ext cx="1645920" cy="54864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304495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11827"/>
                </a:solidFill>
                <a:latin typeface="Calibri"/>
              </a:rPr>
              <a:t>info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22783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onsolas"/>
              </a:rPr>
              <a:t>#3B82F6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630168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381304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FOUNDATIONS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151376"/>
            <a:ext cx="4800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Type   Inter / Plus Jakarta Sans · base 14/20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Space  4px scale · card padding 20 · gutter 24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Radius 12 cards · 8 inputs · 999 chips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Motion 150–200 ms ease-out · slide-over from right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111827"/>
                </a:solidFill>
                <a:latin typeface="Calibri"/>
              </a:rPr>
              <a:t>Loading  skeletons, never spinners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630168"/>
            <a:ext cx="5287975" cy="1920240"/>
          </a:xfrm>
          <a:prstGeom prst="roundRect">
            <a:avLst>
              <a:gd name="adj" fmla="val 6000"/>
            </a:avLst>
          </a:prstGeom>
          <a:solidFill>
            <a:srgbClr val="1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3813048"/>
            <a:ext cx="4739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A5B4FC"/>
                </a:solidFill>
                <a:latin typeface="Calibri"/>
              </a:rPr>
              <a:t>NEVER COLOUR ALONE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178808"/>
            <a:ext cx="473933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Every ribbon state carries an icon and a text label as well as a colour — so it stays readable for colour-blind users and in print.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Chart palette is colour-blind safe.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Delivery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960120"/>
            <a:ext cx="1072865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6B7280"/>
                </a:solidFill>
                <a:latin typeface="Calibri"/>
              </a:rPr>
              <a:t>Roughly five months to go-live with a seven-person team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81328"/>
          <a:ext cx="1090879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737360"/>
                <a:gridCol w="914400"/>
                <a:gridCol w="7799831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Repo, CI/CD, DB schema + migrations, design system, auth skeleton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Core MVP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3–7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Login, masters, client master + Excel import, ticket CRUD with priority/client/attachments, comments, cycle + history + effort, workflow templates, ribbon, Journey tab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Intelligence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8–11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Dashboard + drill-down, SLA engine, stage SLA alerts, escalation, notification centre, full mail engine, stage queue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Collaboration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12–14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Chat (ticket / DM / project), Ask Status, mentions, watchers, attachments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Reporting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15–17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Reports hub, scorecard, velocity, stage cycle time, rework analysis, exports, Resource 360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4F46E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Hardening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18–20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Audit viewer, hash-chain verification, performance, security audit, UAT, training, go-live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6B728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Extensions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6B7280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Client portal, email-to-ticket, knowledge base, mobile app, SSO, Teams/Slack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138928"/>
            <a:ext cx="10911535" cy="5486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5266944"/>
            <a:ext cx="102714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4F46E5"/>
                </a:solidFill>
                <a:latin typeface="Calibri"/>
              </a:rPr>
              <a:t>Team: 1 PM/BA · 1 architect · 2 backend · 2 frontend · 1 QA · 0.5 DevOps · 0.5 designer.   The ribbon adds ~2–3 weeks of the phase-1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50292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4572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11827"/>
                </a:solidFill>
                <a:latin typeface="Calibri"/>
              </a:rPr>
              <a:t>Risks and mitigations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70432"/>
          <a:ext cx="10908792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615391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82296" marR="54864" marT="27432" marB="27432" anchor="ctr">
                    <a:solidFill>
                      <a:srgbClr val="4F46E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History integrity challenged in a client dispute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Hash-chained append-only tables, nightly verification, audit export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Notification fatigue → people ignore alerts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Per-user preference matrix, digests, escalations reserved for genuine breaches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Dashboard slows as data grows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Pre-aggregated summary tables, partial indexes, Redis cache, archival after 3 years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Resources under-log effort → velocity is fiction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Effort mandatory at handoff, daily reminders, manager approval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Role scope bug leaks another team's tickets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One central guard + automated permission tests covering every role × route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Ribbon unreadable at 8 stages on a laptop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Compact dot variant, horizontal scroll with current segment auto-centred, collapsed completed stages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Teams game the ribbon to stop their stage clock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Idle-vs-active reported alongside duration; iteration counter makes ping-pong visible within a day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Assignee never sees the alert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Mail + in-app + queued popup on next login, with a per-ticket delivery log — a missed alert is provable, not deniable</a:t>
                      </a:r>
                    </a:p>
                  </a:txBody>
                  <a:tcPr marL="82296" marR="54864" marT="27432" marB="27432" anchor="ctr">
                    <a:solidFill>
                      <a:srgbClr val="F1F3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Calibri"/>
                        </a:rPr>
                        <a:t>Internal debug notes leak to a client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Calibri"/>
                        </a:rPr>
                        <a:t>Comments and attachments default to internal; client-visible is an explicit, differently-coloured toggle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37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Product Blueprint v1.2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1E1B4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Governance decisions to lock before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188720" cy="36576"/>
          </a:xfrm>
          <a:prstGeom prst="rect">
            <a:avLst/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Can a Developer close a ticket?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09928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Resolved only — closure belongs to the Sign-off stage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Can a ticket skip QA?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58568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PM/Admin only, reason mandatory, never for Production 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Does rework reset the Planned Close Date?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07208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No — the original date stands; that is the honest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Is effort mandatory at handoff?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55848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Yes, blocking — otherwise the roll-up degrades within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Comments default internal or client-visible?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04487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Internal, always — a leak costs more than a 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Does an import update or only insert?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53127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Upsert on client code, with the dry run showing what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7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Does escalated Critical revert after closure?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001767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Keep original_level and report both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211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Is effort self-reported or timer-based?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550407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C7D2FE"/>
                </a:solidFill>
                <a:latin typeface="Calibri"/>
              </a:rPr>
              <a:t>→  Self-reported with optional timer — timers get forgotten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6364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18CF8"/>
                </a:solidFill>
                <a:latin typeface="Calibri"/>
              </a:rPr>
              <a:t>Full list in blueprint §16 · build sequencing in PLAN.md · stream assignment in TEAM-PLAN.md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