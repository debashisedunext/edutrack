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1E1B4B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74519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A5B4FC"/>
                </a:solidFill>
                <a:latin typeface="Calibri"/>
              </a:rPr>
              <a:t>TASKDESK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31720"/>
            <a:ext cx="10911535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4200" b="1">
                <a:solidFill>
                  <a:srgbClr val="FFFFFF"/>
                </a:solidFill>
                <a:latin typeface="Calibri"/>
              </a:rPr>
              <a:t>Organisation Task &amp;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4200" b="1">
                <a:solidFill>
                  <a:srgbClr val="FFFFFF"/>
                </a:solidFill>
                <a:latin typeface="Calibri"/>
              </a:rPr>
              <a:t>Client Ticketing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069080"/>
            <a:ext cx="1371600" cy="41148"/>
          </a:xfrm>
          <a:prstGeom prst="rect">
            <a:avLst/>
          </a:prstGeom>
          <a:solidFill>
            <a:srgbClr val="A5B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370832"/>
            <a:ext cx="999713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50" b="0">
                <a:solidFill>
                  <a:srgbClr val="C7D2FE"/>
                </a:solidFill>
                <a:latin typeface="Calibri"/>
              </a:rPr>
              <a:t>34 screens · 6 roles · ~28 tables · 20 dashboard widgets · 18 reports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50" b="0">
                <a:solidFill>
                  <a:srgbClr val="C7D2FE"/>
                </a:solidFill>
                <a:latin typeface="Calibri"/>
              </a:rPr>
              <a:t>Complete product, architecture &amp; UI blueprint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50292" cy="4206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45720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11827"/>
                </a:solidFill>
                <a:latin typeface="Calibri"/>
              </a:rPr>
              <a:t>What TaskDesk merges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960120"/>
            <a:ext cx="1072865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6B7280"/>
                </a:solidFill>
                <a:latin typeface="Calibri"/>
              </a:rPr>
              <a:t>Two things most organisations run as separate products, unified on one work item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81328"/>
          <a:ext cx="10908792" cy="25786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00800"/>
                <a:gridCol w="4507992"/>
              </a:tblGrid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Capability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Reference product we borrow from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>
                          <a:solidFill>
                            <a:srgbClr val="111827"/>
                          </a:solidFill>
                          <a:latin typeface="Calibri"/>
                        </a:rPr>
                        <a:t>Project + task assignment, sprints, velocity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>
                          <a:solidFill>
                            <a:srgbClr val="6B7280"/>
                          </a:solidFill>
                          <a:latin typeface="Calibri"/>
                        </a:rPr>
                        <a:t>Jira Software · Azure DevOps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>
                          <a:solidFill>
                            <a:srgbClr val="111827"/>
                          </a:solidFill>
                          <a:latin typeface="Calibri"/>
                        </a:rPr>
                        <a:t>Client ticket intake, SLA, escalation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>
                          <a:solidFill>
                            <a:srgbClr val="6B7280"/>
                          </a:solidFill>
                          <a:latin typeface="Calibri"/>
                        </a:rPr>
                        <a:t>Zoho Desk · Freshdesk · Zendesk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>
                          <a:solidFill>
                            <a:srgbClr val="111827"/>
                          </a:solidFill>
                          <a:latin typeface="Calibri"/>
                        </a:rPr>
                        <a:t>Quick update / personal work queue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>
                          <a:solidFill>
                            <a:srgbClr val="6B7280"/>
                          </a:solidFill>
                          <a:latin typeface="Calibri"/>
                        </a:rPr>
                        <a:t>Linear · ClickUp "My Work"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>
                          <a:solidFill>
                            <a:srgbClr val="111827"/>
                          </a:solidFill>
                          <a:latin typeface="Calibri"/>
                        </a:rPr>
                        <a:t>Chat threaded on the work item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>
                          <a:solidFill>
                            <a:srgbClr val="6B7280"/>
                          </a:solidFill>
                          <a:latin typeface="Calibri"/>
                        </a:rPr>
                        <a:t>Slack + Jira — unified here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>
                          <a:solidFill>
                            <a:srgbClr val="111827"/>
                          </a:solidFill>
                          <a:latin typeface="Calibri"/>
                        </a:rPr>
                        <a:t>Analytical dashboards with drill-down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>
                          <a:solidFill>
                            <a:srgbClr val="6B7280"/>
                          </a:solidFill>
                          <a:latin typeface="Calibri"/>
                        </a:rPr>
                        <a:t>Jira Dashboards · Freshdesk Analytics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4270248"/>
            <a:ext cx="10911535" cy="137160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19" y="4480560"/>
            <a:ext cx="1027145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>
                <a:solidFill>
                  <a:srgbClr val="4F46E5"/>
                </a:solidFill>
                <a:latin typeface="Calibri"/>
              </a:rPr>
              <a:t>An internal, multi-project task and client ticketing platform.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>
                <a:solidFill>
                  <a:srgbClr val="4F46E5"/>
                </a:solidFill>
                <a:latin typeface="Calibri"/>
              </a:rPr>
              <a:t/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>
                <a:solidFill>
                  <a:srgbClr val="4F46E5"/>
                </a:solidFill>
                <a:latin typeface="Calibri"/>
              </a:rPr>
              <a:t>The unification is the point: a ticket carries its project work, its client relationship, its SLA and its conversation in one place — so nobody reconciles two systems to answer one question.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3737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Product Blueprint v1.2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54335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50292" cy="4206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45720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11827"/>
                </a:solidFill>
                <a:latin typeface="Calibri"/>
              </a:rPr>
              <a:t>Six things that make it more than a Jira clone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70432"/>
            <a:ext cx="5330952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6112" y="1408176"/>
            <a:ext cx="347472" cy="347472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472184"/>
            <a:ext cx="347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9888" y="1389888"/>
            <a:ext cx="4389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>
                <a:solidFill>
                  <a:srgbClr val="111827"/>
                </a:solidFill>
                <a:latin typeface="Calibri"/>
              </a:rPr>
              <a:t>Cycle-based reopen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9888" y="1737360"/>
            <a:ext cx="4389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Every reopen creates a new cycle with its own start date, assignee, planned close date and effort. Nothing is overwritten, ever.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170432"/>
            <a:ext cx="5330952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519672" y="1408176"/>
            <a:ext cx="347472" cy="347472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9672" y="1472184"/>
            <a:ext cx="347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13448" y="1389888"/>
            <a:ext cx="4389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>
                <a:solidFill>
                  <a:srgbClr val="111827"/>
                </a:solidFill>
                <a:latin typeface="Calibri"/>
              </a:rPr>
              <a:t>Immutable history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13448" y="1737360"/>
            <a:ext cx="4389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Resources update state, never history. Append-only at the database level, not just in the UI.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468880"/>
            <a:ext cx="5330952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96112" y="2706624"/>
            <a:ext cx="347472" cy="347472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2770632"/>
            <a:ext cx="347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89888" y="2688336"/>
            <a:ext cx="4389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>
                <a:solidFill>
                  <a:srgbClr val="111827"/>
                </a:solidFill>
                <a:latin typeface="Calibri"/>
              </a:rPr>
              <a:t>Automatic criticality escalation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3035808"/>
            <a:ext cx="4389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A ticket crossing its Planned Close Date is auto-promoted to Critical and pushed to the reporting manager.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2468880"/>
            <a:ext cx="5330952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519672" y="2706624"/>
            <a:ext cx="347472" cy="347472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9672" y="2770632"/>
            <a:ext cx="347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13448" y="2688336"/>
            <a:ext cx="4389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>
                <a:solidFill>
                  <a:srgbClr val="111827"/>
                </a:solidFill>
                <a:latin typeface="Calibri"/>
              </a:rPr>
              <a:t>Chat attached to the ticket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13448" y="3035808"/>
            <a:ext cx="4389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The manager's "what's the status?" becomes a first-class, trackable, timed event — not a side channel.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767328"/>
            <a:ext cx="5330952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6112" y="4005072"/>
            <a:ext cx="347472" cy="347472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" y="4069080"/>
            <a:ext cx="347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9888" y="3986784"/>
            <a:ext cx="4389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>
                <a:solidFill>
                  <a:srgbClr val="111827"/>
                </a:solidFill>
                <a:latin typeface="Calibri"/>
              </a:rPr>
              <a:t>The Workflow Ribbon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89888" y="4334256"/>
            <a:ext cx="4389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A live journey strip showing the full Support → PM → Dev → QA → Deploy → Close chain, where the ticket is, how many times it bounced, and each person's effort.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3767328"/>
            <a:ext cx="5330952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519672" y="4005072"/>
            <a:ext cx="347472" cy="347472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19672" y="4069080"/>
            <a:ext cx="347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13448" y="3986784"/>
            <a:ext cx="4389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>
                <a:solidFill>
                  <a:srgbClr val="111827"/>
                </a:solidFill>
                <a:latin typeface="Calibri"/>
              </a:rPr>
              <a:t>Client-aware from the first field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13448" y="4334256"/>
            <a:ext cx="4389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Client master with Excel import, client dropdown on every ticket, client-visible vs internal comments, mail threading back as comments.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43737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Product Blueprint v1.2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54335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50292" cy="4206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45720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11827"/>
                </a:solidFill>
                <a:latin typeface="Calibri"/>
              </a:rPr>
              <a:t>Six roles, extensible via a role master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960120"/>
            <a:ext cx="1072865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6B7280"/>
                </a:solidFill>
                <a:latin typeface="Calibri"/>
              </a:rPr>
              <a:t>QA and Deployment exist because the ribbon needs a receiving role that owns each stage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81328"/>
          <a:ext cx="10908791" cy="32278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72000"/>
                <a:gridCol w="1060704"/>
                <a:gridCol w="1060704"/>
                <a:gridCol w="1060704"/>
                <a:gridCol w="1060704"/>
                <a:gridCol w="1060704"/>
                <a:gridCol w="1033271"/>
              </a:tblGrid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Capability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Admin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PM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Support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Dev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QA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Deploy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Create/edit resources, roles, reporting manager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0B981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Create/edit projects, map resources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0B981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0B981"/>
                          </a:solidFill>
                          <a:latin typeface="Calibri"/>
                        </a:rPr>
                        <a:t>✔ own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Create ticket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0B981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0B981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0B981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0B981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0B981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0B981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Assign / reassign ticket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0B981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0B981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0B981"/>
                          </a:solidFill>
                          <a:latin typeface="Calibri"/>
                        </a:rPr>
                        <a:t>✔ own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Hand off to next stage · send back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0B981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0B981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0B981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0B981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0B981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0B981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Skip a stage · force-move ribbon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0B981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0B981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View all tickets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0B981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proj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proj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mine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mine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mine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Close / reopen ticket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0B981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0B981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0B981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Edit or delete history / ribbon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EF4444"/>
                          </a:solidFill>
                          <a:latin typeface="Calibri"/>
                        </a:rPr>
                        <a:t>✘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EF4444"/>
                          </a:solidFill>
                          <a:latin typeface="Calibri"/>
                        </a:rPr>
                        <a:t>✘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EF4444"/>
                          </a:solidFill>
                          <a:latin typeface="Calibri"/>
                        </a:rPr>
                        <a:t>✘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EF4444"/>
                          </a:solidFill>
                          <a:latin typeface="Calibri"/>
                        </a:rPr>
                        <a:t>✘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EF4444"/>
                          </a:solidFill>
                          <a:latin typeface="Calibri"/>
                        </a:rPr>
                        <a:t>✘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EF4444"/>
                          </a:solidFill>
                          <a:latin typeface="Calibri"/>
                        </a:rPr>
                        <a:t>✘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4882896"/>
            <a:ext cx="10911535" cy="658368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5029200"/>
            <a:ext cx="103263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991B1B"/>
                </a:solidFill>
                <a:latin typeface="Calibri"/>
              </a:rPr>
              <a:t>Nobody — including Admin — can edit or delete history or the ribbon. That row is ✘ across all six columns by design.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3737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Product Blueprint v1.2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54335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50292" cy="4206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45720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11827"/>
                </a:solidFill>
                <a:latin typeface="Calibri"/>
              </a:rPr>
              <a:t>Two orthogonal scopes decide visibility on every query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70432"/>
            <a:ext cx="5303520" cy="141732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389888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4F46E5"/>
                </a:solidFill>
                <a:latin typeface="Calibri"/>
              </a:rPr>
              <a:t>ROLE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737360"/>
            <a:ext cx="4754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4F46E5"/>
                </a:solidFill>
                <a:latin typeface="Calibri"/>
              </a:rPr>
              <a:t>What the role is allowed to do.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4F46E5"/>
                </a:solidFill>
                <a:latin typeface="Calibri"/>
              </a:rPr>
              <a:t>Create, assign, close, configure masters.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170432"/>
            <a:ext cx="5285232" cy="141732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56248" y="1389888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065F46"/>
                </a:solidFill>
                <a:latin typeface="Calibri"/>
              </a:rPr>
              <a:t>ROW 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6248" y="1737360"/>
            <a:ext cx="4754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065F46"/>
                </a:solidFill>
                <a:latin typeface="Consolas"/>
              </a:rPr>
              <a:t>assignee = me  OR  reported_by = me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065F46"/>
                </a:solidFill>
                <a:latin typeface="Consolas"/>
              </a:rPr>
              <a:t>OR project_id IN my_projects  OR  assignee IN my_reportees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862072"/>
            <a:ext cx="10911535" cy="1234440"/>
          </a:xfrm>
          <a:prstGeom prst="roundRect">
            <a:avLst>
              <a:gd name="adj" fmla="val 6000"/>
            </a:avLst>
          </a:prstGeom>
          <a:solidFill>
            <a:srgbClr val="1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19" y="3044952"/>
            <a:ext cx="102714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A5B4FC"/>
                </a:solidFill>
                <a:latin typeface="Calibri"/>
              </a:rPr>
              <a:t>THE SINGLE MOST IMPORTANT SECURITY RULE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19" y="3410712"/>
            <a:ext cx="1027145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A Developer's ticket list is always forcibly filtered by assigned_to = current_user_id, injected by a server-side scope guard — never by a front-end filter.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370832"/>
            <a:ext cx="10911535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19" y="4535424"/>
            <a:ext cx="102714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6B7280"/>
                </a:solidFill>
                <a:latin typeface="Calibri"/>
              </a:rPr>
              <a:t>GOLDEN RULE OF THE RIBBON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19" y="4846320"/>
            <a:ext cx="102714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111827"/>
                </a:solidFill>
                <a:latin typeface="Calibri"/>
              </a:rPr>
              <a:t>Only the current stage owner — plus PM and Admin — can move a ticket to the next stage. A Developer cannot push a ticket into Deployment while it is sitting with QA.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3737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Product Blueprint v1.2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54335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50292" cy="4206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45720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11827"/>
                </a:solidFill>
                <a:latin typeface="Calibri"/>
              </a:rPr>
              <a:t>Two layers: stage and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960120"/>
            <a:ext cx="1072865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6B7280"/>
                </a:solidFill>
                <a:latin typeface="Calibri"/>
              </a:rPr>
              <a:t>Orthogonal, and both are needed — the ribbon alone cannot tell you whether work is moving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81328"/>
          <a:ext cx="10908792" cy="3017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63040"/>
                <a:gridCol w="4754880"/>
                <a:gridCol w="4690872"/>
              </a:tblGrid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Stage  (the ribbon)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111827"/>
                          </a:solidFill>
                          <a:latin typeface="Calibri"/>
                        </a:rPr>
                        <a:t>Answers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11827"/>
                          </a:solidFill>
                          <a:latin typeface="Calibri"/>
                        </a:rPr>
                        <a:t>Which team owns it right now?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11827"/>
                          </a:solidFill>
                          <a:latin typeface="Calibri"/>
                        </a:rPr>
                        <a:t>Is work moving, or blocked?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111827"/>
                          </a:solidFill>
                          <a:latin typeface="Calibri"/>
                        </a:rPr>
                        <a:t>Values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11827"/>
                          </a:solidFill>
                          <a:latin typeface="Calibri"/>
                        </a:rPr>
                        <a:t>Intake · Triage · Development · QA · Deployment · Verification · Sign-off · Closed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11827"/>
                          </a:solidFill>
                          <a:latin typeface="Calibri"/>
                        </a:rPr>
                        <a:t>New · In Progress · On Hold · Awaiting Info · Rework · Resolved · Closed · Reopened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111827"/>
                          </a:solidFill>
                          <a:latin typeface="Calibri"/>
                        </a:rPr>
                        <a:t>Changes on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11827"/>
                          </a:solidFill>
                          <a:latin typeface="Calibri"/>
                        </a:rPr>
                        <a:t>A handoff between teams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11827"/>
                          </a:solidFill>
                          <a:latin typeface="Calibri"/>
                        </a:rPr>
                        <a:t>A day-to-day update by the owner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111827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11827"/>
                          </a:solidFill>
                          <a:latin typeface="Calibri"/>
                        </a:rPr>
                        <a:t>Stage owner role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11827"/>
                          </a:solidFill>
                          <a:latin typeface="Calibri"/>
                        </a:rPr>
                        <a:t>Assignee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4608576"/>
            <a:ext cx="10911535" cy="114300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19" y="4791456"/>
            <a:ext cx="102714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>
                <a:solidFill>
                  <a:srgbClr val="4F46E5"/>
                </a:solidFill>
                <a:latin typeface="Calibri"/>
              </a:rPr>
              <a:t>A ticket can be In Progress in the QA stage, or On Hold in the Deployment stage.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>
                <a:solidFill>
                  <a:srgbClr val="4F46E5"/>
                </a:solidFill>
                <a:latin typeface="Calibri"/>
              </a:rPr>
              <a:t/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>
                <a:solidFill>
                  <a:srgbClr val="4F46E5"/>
                </a:solidFill>
                <a:latin typeface="Calibri"/>
              </a:rPr>
              <a:t>Without both, you cannot distinguish "sitting in QA because Anil is busy" from "sitting in QA because the test environment is down".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3737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Product Blueprint v1.2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54335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50292" cy="4206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45720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11827"/>
                </a:solidFill>
                <a:latin typeface="Calibri"/>
              </a:rPr>
              <a:t>End-to-end operational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960120"/>
            <a:ext cx="1072865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6B7280"/>
                </a:solidFill>
                <a:latin typeface="Calibri"/>
              </a:rPr>
              <a:t>Seven phases, from intake to reopen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81328"/>
            <a:ext cx="10911535" cy="5303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50292" cy="38404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62763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4F46E5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7" y="1627632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11827"/>
                </a:solidFill>
                <a:latin typeface="Calibri"/>
              </a:rPr>
              <a:t>INTAKE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1609344"/>
            <a:ext cx="839693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Calibri"/>
              </a:rPr>
              <a:t>Support Desk / PM / client raises a ticket, or the email parser does. ID auto-generated: CRM-26-00347. SLA policy resolves the planned close date.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084832"/>
            <a:ext cx="10911535" cy="5303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157984"/>
            <a:ext cx="50292" cy="384048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223113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06B6D4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7007" y="2231136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11827"/>
                </a:solidFill>
                <a:latin typeface="Calibri"/>
              </a:rPr>
              <a:t>TRIAGE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2212848"/>
            <a:ext cx="839693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Calibri"/>
              </a:rPr>
              <a:t>PM or Support validates, sets level, assigns. Cycle #1 stamped. Real-time popup + bell + email to the assignee within ~1 second.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688336"/>
            <a:ext cx="10911535" cy="5303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2761488"/>
            <a:ext cx="50292" cy="38404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283464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8B5CF6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2834640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11827"/>
                </a:solidFill>
                <a:latin typeface="Calibri"/>
              </a:rPr>
              <a:t>EXECUTION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360" y="2816352"/>
            <a:ext cx="839693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Calibri"/>
              </a:rPr>
              <a:t>Moves along the ribbon. At every hop: effort attributed to that resource, time-in-stage stamped, an append-only transition row written.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291840"/>
            <a:ext cx="10911535" cy="5303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3364992"/>
            <a:ext cx="50292" cy="38404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343814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4B8A6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07007" y="3438144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11827"/>
                </a:solidFill>
                <a:latin typeface="Calibri"/>
              </a:rPr>
              <a:t>MONITORING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80360" y="3419856"/>
            <a:ext cx="839693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Calibri"/>
              </a:rPr>
              <a:t>Scheduler every 15 minutes: past planned close → Critical + alert to reporting manager. 80% elapsed → pre-breach warning. No update in N days → nudge.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3895344"/>
            <a:ext cx="10911535" cy="5303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" y="3968496"/>
            <a:ext cx="50292" cy="38404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6112" y="404164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4F46E5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07007" y="4041648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11827"/>
                </a:solidFill>
                <a:latin typeface="Calibri"/>
              </a:rPr>
              <a:t>STATUS CHECK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80360" y="4023360"/>
            <a:ext cx="839693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Calibri"/>
              </a:rPr>
              <a:t>Manager clicks Ask Status → templated message into the ticket's chat thread. Response time is recorded as a metric.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4498848"/>
            <a:ext cx="10911535" cy="5303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" y="4572000"/>
            <a:ext cx="50292" cy="384048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6112" y="464515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06B6D4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07007" y="4645152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11827"/>
                </a:solidFill>
                <a:latin typeface="Calibri"/>
              </a:rPr>
              <a:t>CLOSURE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80360" y="4626864"/>
            <a:ext cx="839693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Calibri"/>
              </a:rPr>
              <a:t>Resource marks Resolved → PM/Support verifies → Closed. Actual close date stamped, cycle effort frozen, optional CSAT.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5102352"/>
            <a:ext cx="10911535" cy="5303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" y="5175504"/>
            <a:ext cx="50292" cy="38404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6112" y="524865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8B5CF6"/>
                </a:solidFill>
                <a:latin typeface="Calibri"/>
              </a:rP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07007" y="5248656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11827"/>
                </a:solidFill>
                <a:latin typeface="Calibri"/>
              </a:rPr>
              <a:t>REOPEN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80360" y="5230368"/>
            <a:ext cx="839693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Calibri"/>
              </a:rPr>
              <a:t>Reason mandatory. Cycle #1 sealed read-only forever. Cycle #2 opens with fresh dates and its own ribbon. Total effort = Σ all cycles.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643737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Product Blueprint v1.2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454335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50292" cy="4206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45720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11827"/>
                </a:solidFill>
                <a:latin typeface="Calibri"/>
              </a:rPr>
              <a:t>The reopen &amp; history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960120"/>
            <a:ext cx="1072865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6B7280"/>
                </a:solidFill>
                <a:latin typeface="Calibri"/>
              </a:rPr>
              <a:t>Three layers, each with a different job — this is where most in-house ticketing tools fail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81328"/>
          <a:ext cx="10908792" cy="25786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2743200"/>
                <a:gridCol w="4206240"/>
                <a:gridCol w="2130552"/>
              </a:tblGrid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Table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Mutability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111827"/>
                          </a:solidFill>
                          <a:latin typeface="Calibri"/>
                        </a:rPr>
                        <a:t>Current state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11827"/>
                          </a:solidFill>
                          <a:latin typeface="Calibri"/>
                        </a:rPr>
                        <a:t>tickets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11827"/>
                          </a:solidFill>
                          <a:latin typeface="Calibri"/>
                        </a:rPr>
                        <a:t>Fast reads, list views, dashboards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3B82F6"/>
                          </a:solidFill>
                          <a:latin typeface="Calibri"/>
                        </a:rPr>
                        <a:t>Updatable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111827"/>
                          </a:solidFill>
                          <a:latin typeface="Calibri"/>
                        </a:rPr>
                        <a:t>Cycle snapshot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11827"/>
                          </a:solidFill>
                          <a:latin typeface="Calibri"/>
                        </a:rPr>
                        <a:t>ticket_cycles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11827"/>
                          </a:solidFill>
                          <a:latin typeface="Calibri"/>
                        </a:rPr>
                        <a:t>One row per open → close round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59E0B"/>
                          </a:solidFill>
                          <a:latin typeface="Calibri"/>
                        </a:rPr>
                        <a:t>Insert; sealed on close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111827"/>
                          </a:solidFill>
                          <a:latin typeface="Calibri"/>
                        </a:rPr>
                        <a:t>Change trail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11827"/>
                          </a:solidFill>
                          <a:latin typeface="Calibri"/>
                        </a:rPr>
                        <a:t>ticket_history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11827"/>
                          </a:solidFill>
                          <a:latin typeface="Calibri"/>
                        </a:rPr>
                        <a:t>Every single field change, who and when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EF4444"/>
                          </a:solidFill>
                          <a:latin typeface="Calibri"/>
                        </a:rPr>
                        <a:t>APPEND-ONLY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111827"/>
                          </a:solidFill>
                          <a:latin typeface="Calibri"/>
                        </a:rPr>
                        <a:t>Effort trail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11827"/>
                          </a:solidFill>
                          <a:latin typeface="Calibri"/>
                        </a:rPr>
                        <a:t>ticket_effort_logs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11827"/>
                          </a:solidFill>
                          <a:latin typeface="Calibri"/>
                        </a:rPr>
                        <a:t>Every hour logged, by whom, on which date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EF4444"/>
                          </a:solidFill>
                          <a:latin typeface="Calibri"/>
                        </a:rPr>
                        <a:t>APPEND-ONLY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111827"/>
                          </a:solidFill>
                          <a:latin typeface="Calibri"/>
                        </a:rPr>
                        <a:t>Stage trail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11827"/>
                          </a:solidFill>
                          <a:latin typeface="Calibri"/>
                        </a:rPr>
                        <a:t>ticket_stage_transitions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11827"/>
                          </a:solidFill>
                          <a:latin typeface="Calibri"/>
                        </a:rPr>
                        <a:t>Every hop — this table IS the ribbon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EF4444"/>
                          </a:solidFill>
                          <a:latin typeface="Calibri"/>
                        </a:rPr>
                        <a:t>APPEND-ONLY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4315968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6B7280"/>
                </a:solidFill>
                <a:latin typeface="Calibri"/>
              </a:rPr>
              <a:t>WHAT A REOPEN ACTUALLY DOES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645152"/>
            <a:ext cx="10911535" cy="1097280"/>
          </a:xfrm>
          <a:prstGeom prst="roundRect">
            <a:avLst>
              <a:gd name="adj" fmla="val 6000"/>
            </a:avLst>
          </a:prstGeom>
          <a:solidFill>
            <a:srgbClr val="1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4791456"/>
            <a:ext cx="10509199" cy="8046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0">
                <a:solidFill>
                  <a:srgbClr val="E5E8F0"/>
                </a:solidFill>
                <a:latin typeface="Consolas"/>
              </a:rPr>
              <a:t>BEGIN;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0">
                <a:solidFill>
                  <a:srgbClr val="E5E8F0"/>
                </a:solidFill>
                <a:latin typeface="Consolas"/>
              </a:rPr>
              <a:t>  UPDATE ticket_cycles SET is_sealed = true WHERE ticket_id = :id AND cycle_no = :current;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0">
                <a:solidFill>
                  <a:srgbClr val="E5E8F0"/>
                </a:solidFill>
                <a:latin typeface="Consolas"/>
              </a:rPr>
              <a:t>  INSERT INTO ticket_cycles (…, cycle_no, start_date, assigned_to, planned_close_date, reopen_reason)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0">
                <a:solidFill>
                  <a:srgbClr val="E5E8F0"/>
                </a:solidFill>
                <a:latin typeface="Consolas"/>
              </a:rPr>
              <a:t>  UPDATE tickets SET status='REOPENED', current_cycle_no = :current+1, reopen_count = reopen_count+1;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0">
                <a:solidFill>
                  <a:srgbClr val="E5E8F0"/>
                </a:solidFill>
                <a:latin typeface="Consolas"/>
              </a:rPr>
              <a:t>COMMIT;        -- effort from cycle 1 is never touched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3737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Product Blueprint v1.2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54335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50292" cy="4206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45720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11827"/>
                </a:solidFill>
                <a:latin typeface="Calibri"/>
              </a:rPr>
              <a:t>How history is made tamper-proof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960120"/>
            <a:ext cx="1072865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6B7280"/>
                </a:solidFill>
                <a:latin typeface="Calibri"/>
              </a:rPr>
              <a:t>Four independent guards — defence in depth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81328"/>
            <a:ext cx="2556433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81328"/>
            <a:ext cx="2556433" cy="6400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1792224"/>
            <a:ext cx="208094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4F46E5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139696"/>
            <a:ext cx="208094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111827"/>
                </a:solidFill>
                <a:latin typeface="Calibri"/>
              </a:rPr>
              <a:t>Application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578608"/>
            <a:ext cx="208094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Calibri"/>
              </a:rPr>
              <a:t>No service method exists that issues UPDATE or DELETE on the protected tables. Only insert() is exposed.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5113" y="1481328"/>
            <a:ext cx="2556433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25113" y="1481328"/>
            <a:ext cx="2556433" cy="64008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62857" y="1792224"/>
            <a:ext cx="208094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06B6D4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62857" y="2139696"/>
            <a:ext cx="208094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111827"/>
                </a:solidFill>
                <a:latin typeface="Calibri"/>
              </a:rPr>
              <a:t>Database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62857" y="2578608"/>
            <a:ext cx="208094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Calibri"/>
              </a:rPr>
              <a:t>The app's DB role holds INSERT and SELECT grants only. A BEFORE UPDATE OR DELETE trigger raises an exception.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0147" y="1481328"/>
            <a:ext cx="2556433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0147" y="1481328"/>
            <a:ext cx="2556433" cy="6400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7891" y="1792224"/>
            <a:ext cx="208094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8B5CF6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7891" y="2139696"/>
            <a:ext cx="208094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111827"/>
                </a:solidFill>
                <a:latin typeface="Calibri"/>
              </a:rPr>
              <a:t>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7891" y="2578608"/>
            <a:ext cx="208094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Calibri"/>
              </a:rPr>
              <a:t>No PUT, PATCH or DELETE routes are registered. A correction is a new compensating entry — exactly like an accounting reversal.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95181" y="1481328"/>
            <a:ext cx="2556433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95181" y="1481328"/>
            <a:ext cx="2556433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2925" y="1792224"/>
            <a:ext cx="208094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4B8A6"/>
                </a:solidFill>
                <a:latin typeface="Calibr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2925" y="2139696"/>
            <a:ext cx="208094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111827"/>
                </a:solidFill>
                <a:latin typeface="Calibri"/>
              </a:rPr>
              <a:t>Integrity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2925" y="2578608"/>
            <a:ext cx="208094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Calibri"/>
              </a:rPr>
              <a:t>Each row stores prev_hash + row_hash as a SHA-256 chain. A nightly job verifies it; a break raises an admin alert.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361688"/>
            <a:ext cx="10911535" cy="1234440"/>
          </a:xfrm>
          <a:prstGeom prst="roundRect">
            <a:avLst>
              <a:gd name="adj" fmla="val 6000"/>
            </a:avLst>
          </a:prstGeom>
          <a:solidFill>
            <a:srgbClr val="1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19" y="4544568"/>
            <a:ext cx="102714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A5B4FC"/>
                </a:solidFill>
                <a:latin typeface="Calibri"/>
              </a:rPr>
              <a:t>WHY FOUR AND NOT ONE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19" y="4882896"/>
            <a:ext cx="1027145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Calibri"/>
              </a:rPr>
              <a:t>The hash chain makes even direct database tampering detectable. For a Developer, the history grid renders with no edit or delete affordance at all — and the API would reject it even if the DOM were manipulated.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43737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Product Blueprint v1.2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54335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50292" cy="4206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45720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11827"/>
                </a:solidFill>
                <a:latin typeface="Calibri"/>
              </a:rPr>
              <a:t>The Workflow Ribbon — eight stages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960120"/>
            <a:ext cx="1072865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6B7280"/>
                </a:solidFill>
                <a:latin typeface="Calibri"/>
              </a:rPr>
              <a:t>A live journey strip pinned to the top of every ticket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81328"/>
          <a:ext cx="10908791" cy="30723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7200"/>
                <a:gridCol w="2103120"/>
                <a:gridCol w="2103120"/>
                <a:gridCol w="2286000"/>
                <a:gridCol w="2926080"/>
                <a:gridCol w="1033271"/>
              </a:tblGrid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Stage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Owner role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Enters when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Leaves when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SLA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6B728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Intake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Support Desk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Ticket created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Details validated, project tagged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2 h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6B728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Triage / Planning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PM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Support hands off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Level set + developer assigned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4 h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6B728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Development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Developer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PM assigns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Dev marks Ready for QA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per SLA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6B728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QA / Testing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QA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Dev hands off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QA marks Pass or Fail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8 h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6B728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Deployment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Deployment / DevOps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QA passes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Deploy marked done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4 h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6B7280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Verification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Developer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Deploy hands back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Dev confirms in target env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4 h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6B7280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Sign-off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PM / Support Desk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Dev marks complete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PM/Support accepts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8 h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6B7280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Closed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Sign-off accepted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terminal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4791456"/>
            <a:ext cx="10911535" cy="77724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19" y="4956048"/>
            <a:ext cx="1027145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4F46E5"/>
                </a:solidFill>
                <a:latin typeface="Calibri"/>
              </a:rPr>
              <a:t>Not every project needs eight stages. Templates — Standard Dev Flow (8) · Support Fast-Track (5) · Infra Flow (5) — are mapped per project × task type. The ribbon renders whatever the template defines; no code change to add a stage.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3737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Product Blueprint v1.2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54335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50292" cy="4206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45720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11827"/>
                </a:solidFill>
                <a:latin typeface="Calibri"/>
              </a:rPr>
              <a:t>Loop-backs, and two counters that are easy to confuse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70432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6B7280"/>
                </a:solidFill>
                <a:latin typeface="Calibri"/>
              </a:rPr>
              <a:t>LOOP-BACKS  ·  each increments the iteration counter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99616"/>
          <a:ext cx="5394960" cy="2560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83080"/>
                <a:gridCol w="2103120"/>
                <a:gridCol w="1508760"/>
              </a:tblGrid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Loop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From → To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Code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Rework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QA → Development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REWORK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Deployment failure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Deployment → Development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DEPLOY_FAILED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Verification failure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Verification → Development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VERIFY_FAILED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Rejected at sign-off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Sign-off → Development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SIGNOFF_REJECTED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Clarification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Development → Triage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CLARIFICATION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Force move  (PM/Admin)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any → any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OVERRIDE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4050791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EF4444"/>
                </a:solidFill>
                <a:latin typeface="Calibri"/>
              </a:rPr>
              <a:t>Every backward move requires a reason.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170432"/>
            <a:ext cx="5242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6B7280"/>
                </a:solidFill>
                <a:latin typeface="Calibri"/>
              </a:rPr>
              <a:t>ITERATIONS vs CYCLES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499616"/>
            <a:ext cx="5242255" cy="1298448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682496"/>
            <a:ext cx="46936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92400E"/>
                </a:solidFill>
                <a:latin typeface="Calibri"/>
              </a:rPr>
              <a:t>ITERATION  (iteration_no)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011680"/>
            <a:ext cx="46936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250" b="0">
                <a:solidFill>
                  <a:srgbClr val="92400E"/>
                </a:solidFill>
                <a:latin typeface="Calibri"/>
              </a:rPr>
              <a:t>Increments when the ticket is pushed backwards in the ribbon.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250" b="0">
                <a:solidFill>
                  <a:srgbClr val="92400E"/>
                </a:solidFill>
                <a:latin typeface="Calibri"/>
              </a:rPr>
              <a:t>Scope: within one cycle.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953512"/>
            <a:ext cx="5242255" cy="1298448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3136391"/>
            <a:ext cx="46936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4F46E5"/>
                </a:solidFill>
                <a:latin typeface="Calibri"/>
              </a:rPr>
              <a:t>CYCLE  (cycle_no)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465576"/>
            <a:ext cx="46936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250" b="0">
                <a:solidFill>
                  <a:srgbClr val="4F46E5"/>
                </a:solidFill>
                <a:latin typeface="Calibri"/>
              </a:rPr>
              <a:t>Increments when the ticket is reopened after closure.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250" b="0">
                <a:solidFill>
                  <a:srgbClr val="4F46E5"/>
                </a:solidFill>
                <a:latin typeface="Calibri"/>
              </a:rPr>
              <a:t>Scope: the whole ticket. Each cycle has its own ribbon.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4416552"/>
            <a:ext cx="5242255" cy="841248"/>
          </a:xfrm>
          <a:prstGeom prst="roundRect">
            <a:avLst>
              <a:gd name="adj" fmla="val 6000"/>
            </a:avLst>
          </a:prstGeom>
          <a:solidFill>
            <a:srgbClr val="1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4599432"/>
            <a:ext cx="46936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Cycle 2 · Iteration 3 · currently in QA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Closed once, reopened, and QA has already bounced it twice this life.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3737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Product Blueprint v1.2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54335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50292" cy="4206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45720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11827"/>
                </a:solidFill>
                <a:latin typeface="Calibri"/>
              </a:rPr>
              <a:t>What the ribbon renders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960120"/>
            <a:ext cx="1072865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6B7280"/>
                </a:solidFill>
                <a:latin typeface="Calibri"/>
              </a:rPr>
              <a:t>Every segment shows five things · six visual states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81328"/>
            <a:ext cx="3931920" cy="2148840"/>
          </a:xfrm>
          <a:prstGeom prst="roundRect">
            <a:avLst>
              <a:gd name="adj" fmla="val 6000"/>
            </a:avLst>
          </a:prstGeom>
          <a:solidFill>
            <a:srgbClr val="1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19" y="1709928"/>
            <a:ext cx="347472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E5E8F0"/>
                </a:solidFill>
                <a:latin typeface="Consolas"/>
              </a:rPr>
              <a:t>┌───────────────┐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E5E8F0"/>
                </a:solidFill>
                <a:latin typeface="Consolas"/>
              </a:rPr>
              <a:t>│ ✔ Development │  ← stage + state icon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E5E8F0"/>
                </a:solidFill>
                <a:latin typeface="Consolas"/>
              </a:rPr>
              <a:t>│ Ravi Kumar    │  ← owner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E5E8F0"/>
                </a:solidFill>
                <a:latin typeface="Consolas"/>
              </a:rPr>
              <a:t>│ 3d 4h         │  ← time in stage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E5E8F0"/>
                </a:solidFill>
                <a:latin typeface="Consolas"/>
              </a:rPr>
              <a:t>│ 14.5 h effort │  ← effort in stage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E5E8F0"/>
                </a:solidFill>
                <a:latin typeface="Consolas"/>
              </a:rPr>
              <a:t>│ ↺ ×2          │  ← loop-back badge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E5E8F0"/>
                </a:solidFill>
                <a:latin typeface="Consolas"/>
              </a:rPr>
              <a:t>└───────────────┘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846320" y="1481328"/>
          <a:ext cx="6702552" cy="23408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94560"/>
                <a:gridCol w="4507992"/>
              </a:tblGrid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Segment state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Visual treatment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0B981"/>
                          </a:solidFill>
                          <a:latin typeface="Calibri"/>
                        </a:rPr>
                        <a:t>Completed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11827"/>
                          </a:solidFill>
                          <a:latin typeface="Calibri"/>
                        </a:rPr>
                        <a:t>Solid tick, green accent, filled connector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4F46E5"/>
                          </a:solidFill>
                          <a:latin typeface="Calibri"/>
                        </a:rPr>
                        <a:t>Current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11827"/>
                          </a:solidFill>
                          <a:latin typeface="Calibri"/>
                        </a:rPr>
                        <a:t>Indigo fill, pulse ring, "Now" label, live elapsed timer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6B7280"/>
                          </a:solidFill>
                          <a:latin typeface="Calibri"/>
                        </a:rPr>
                        <a:t>Pending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11827"/>
                          </a:solidFill>
                          <a:latin typeface="Calibri"/>
                        </a:rPr>
                        <a:t>Outlined, muted text, dashed connector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59E0B"/>
                          </a:solidFill>
                          <a:latin typeface="Calibri"/>
                        </a:rPr>
                        <a:t>Reworked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11827"/>
                          </a:solidFill>
                          <a:latin typeface="Calibri"/>
                        </a:rPr>
                        <a:t>Amber left edge + ↺ ×N badge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6B7280"/>
                          </a:solidFill>
                          <a:latin typeface="Calibri"/>
                        </a:rPr>
                        <a:t>Skipped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11827"/>
                          </a:solidFill>
                          <a:latin typeface="Calibri"/>
                        </a:rPr>
                        <a:t>Dashed outline, strikethrough, hover shows who authorised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EF4444"/>
                          </a:solidFill>
                          <a:latin typeface="Calibri"/>
                        </a:rPr>
                        <a:t>Blocked / breached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11827"/>
                          </a:solidFill>
                          <a:latin typeface="Calibri"/>
                        </a:rPr>
                        <a:t>Grey with pause icon, or red past stage SLA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40080" y="3904487"/>
            <a:ext cx="10911535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19" y="4087368"/>
            <a:ext cx="102714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6B7280"/>
                </a:solidFill>
                <a:latin typeface="Calibri"/>
              </a:rPr>
              <a:t>INTERACTIONS</a:t>
            </a:r>
          </a:p>
        </p:txBody>
      </p:sp>
      <p:sp>
        <p:nvSpPr>
          <p:cNvPr id="11" name="Oval 10"/>
          <p:cNvSpPr/>
          <p:nvPr/>
        </p:nvSpPr>
        <p:spPr>
          <a:xfrm>
            <a:off x="960119" y="4475988"/>
            <a:ext cx="77724" cy="777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61287" y="4407408"/>
            <a:ext cx="997884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 b="1">
                <a:solidFill>
                  <a:srgbClr val="111827"/>
                </a:solidFill>
                <a:latin typeface="Calibri"/>
              </a:rPr>
              <a:t>Click a segment </a:t>
            </a:r>
            <a:r>
              <a:rPr sz="1200">
                <a:solidFill>
                  <a:srgbClr val="6B7280"/>
                </a:solidFill>
                <a:latin typeface="Calibri"/>
              </a:rPr>
              <a:t>— filters the History, Effort and Chat tabs below to just that stage and iteration.</a:t>
            </a:r>
          </a:p>
        </p:txBody>
      </p:sp>
      <p:sp>
        <p:nvSpPr>
          <p:cNvPr id="13" name="Oval 12"/>
          <p:cNvSpPr/>
          <p:nvPr/>
        </p:nvSpPr>
        <p:spPr>
          <a:xfrm>
            <a:off x="960119" y="4841748"/>
            <a:ext cx="77724" cy="777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61287" y="4773168"/>
            <a:ext cx="997884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 b="1">
                <a:solidFill>
                  <a:srgbClr val="111827"/>
                </a:solidFill>
                <a:latin typeface="Calibri"/>
              </a:rPr>
              <a:t>Current segment </a:t>
            </a:r>
            <a:r>
              <a:rPr sz="1200">
                <a:solidFill>
                  <a:srgbClr val="6B7280"/>
                </a:solidFill>
                <a:latin typeface="Calibri"/>
              </a:rPr>
              <a:t>— carries the contextual action inline: Hand off to QA → · Pass / Fail · Mark deployed. Hidden for everyone else.</a:t>
            </a:r>
          </a:p>
        </p:txBody>
      </p:sp>
      <p:sp>
        <p:nvSpPr>
          <p:cNvPr id="15" name="Oval 14"/>
          <p:cNvSpPr/>
          <p:nvPr/>
        </p:nvSpPr>
        <p:spPr>
          <a:xfrm>
            <a:off x="960119" y="5207508"/>
            <a:ext cx="77724" cy="777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61287" y="5138928"/>
            <a:ext cx="997884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 b="1">
                <a:solidFill>
                  <a:srgbClr val="111827"/>
                </a:solidFill>
                <a:latin typeface="Calibri"/>
              </a:rPr>
              <a:t>Compact ribbon in lists </a:t>
            </a:r>
            <a:r>
              <a:rPr sz="1200">
                <a:solidFill>
                  <a:srgbClr val="6B7280"/>
                </a:solidFill>
                <a:latin typeface="Calibri"/>
              </a:rPr>
              <a:t>— eight dots per row, so a manager scans a whole grid and sees where every ticket sits.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3737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Product Blueprint v1.2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54335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50292" cy="4206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45720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11827"/>
                </a:solidFill>
                <a:latin typeface="Calibri"/>
              </a:rPr>
              <a:t>Effort attribution per resource, per stage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960120"/>
            <a:ext cx="1072865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6B7280"/>
                </a:solidFill>
                <a:latin typeface="Calibri"/>
              </a:rPr>
              <a:t>The panel under the ribbon — "what did your team actually do on this issue?"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81328"/>
          <a:ext cx="10908792" cy="29809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7200"/>
                <a:gridCol w="2194560"/>
                <a:gridCol w="1828800"/>
                <a:gridCol w="914400"/>
                <a:gridCol w="1737360"/>
                <a:gridCol w="1463040"/>
                <a:gridCol w="2313432"/>
              </a:tblGrid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It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Stage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Resource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Duration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Effort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Intake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Priya N.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SUP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1h 10m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0.5 h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Triage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Meera P.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PM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3h 20m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1.0 h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Development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Ravi K.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DEV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2d 1h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9.0 h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QA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Anil S.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QA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6h 40m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3.5 h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EF4444"/>
                          </a:solidFill>
                          <a:latin typeface="Calibri"/>
                        </a:rPr>
                        <a:t>✗ Failed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Development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Ravi K.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DEV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1d 2h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5.5 h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59E0B"/>
                          </a:solidFill>
                          <a:latin typeface="Calibri"/>
                        </a:rPr>
                        <a:t>↺ rework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QA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Anil S.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QA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4h 05m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2.0 h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0B981"/>
                          </a:solidFill>
                          <a:latin typeface="Calibri"/>
                        </a:rPr>
                        <a:t>✓ Passed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Deployment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Karan D.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DEP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5h 30m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1.5 h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TOTAL — Cycle 2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5d 3h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4F46E5"/>
                          </a:solidFill>
                          <a:latin typeface="Calibri"/>
                        </a:rPr>
                        <a:t>24.5 h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TOTAL — all cycles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12d 6h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4F46E5"/>
                          </a:solidFill>
                          <a:latin typeface="Calibri"/>
                        </a:rPr>
                        <a:t>38.0 h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4681728"/>
            <a:ext cx="10911535" cy="91440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19" y="4846320"/>
            <a:ext cx="10271455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250" b="0">
                <a:solidFill>
                  <a:srgbClr val="065F46"/>
                </a:solidFill>
                <a:latin typeface="Calibri"/>
              </a:rPr>
              <a:t>Active time = Σ effort logged in that stage.    Idle / queue time = duration in stage − active time.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250" b="0">
                <a:solidFill>
                  <a:srgbClr val="065F46"/>
                </a:solidFill>
                <a:latin typeface="Calibri"/>
              </a:rPr>
              <a:t>A stage with 2 days duration and 2 hours of effort is a QUEUE problem, not a capacity problem — and that single insight is usually worth the whole ribbon feature.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3737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Product Blueprint v1.2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54335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50292" cy="4206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45720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11827"/>
                </a:solidFill>
                <a:latin typeface="Calibri"/>
              </a:rPr>
              <a:t>The ticket page — five capabilities that make it usable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960120"/>
            <a:ext cx="1072865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6B7280"/>
                </a:solidFill>
                <a:latin typeface="Calibri"/>
              </a:rPr>
              <a:t>Individually small; together they are what a support desk handling real client traffic needs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81328"/>
            <a:ext cx="10911535" cy="7589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72768"/>
            <a:ext cx="50292" cy="57607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4F46E5"/>
                </a:solidFill>
                <a:latin typeface="Calibri"/>
              </a:rPr>
              <a:t>Priority dropdown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627632"/>
            <a:ext cx="78940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Calibri"/>
              </a:rPr>
              <a:t>Colour chips, not plain text. Pre-filled from the task type. Changing it recomputes and previews the planned close date before you commit. Mandatory reason once assigned.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331720"/>
            <a:ext cx="10911535" cy="7589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423160"/>
            <a:ext cx="50292" cy="576072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58775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06B6D4"/>
                </a:solidFill>
                <a:latin typeface="Calibri"/>
              </a:rPr>
              <a:t>Client + contact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478024"/>
            <a:ext cx="78940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Calibri"/>
              </a:rPr>
              <a:t>Type-ahead over name, code and domain, filtered to the project's clients. Dependent contact dropdown with inline "+ Add contact" so the desk never leaves the form.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82112"/>
            <a:ext cx="10911535" cy="7589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273552"/>
            <a:ext cx="50292" cy="57607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38144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8B5CF6"/>
                </a:solidFill>
                <a:latin typeface="Calibri"/>
              </a:rPr>
              <a:t>Attachments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3328416"/>
            <a:ext cx="78940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Calibri"/>
              </a:rPr>
              <a:t>Drag-drop, file picker, and paste from clipboard — the last matters most, because pasting a screenshot straight from Snipping Tool is the most common attachment action.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032504"/>
            <a:ext cx="10911535" cy="7589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4123944"/>
            <a:ext cx="50292" cy="57607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28853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14B8A6"/>
                </a:solidFill>
                <a:latin typeface="Calibri"/>
              </a:rPr>
              <a:t>Comment box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4178808"/>
            <a:ext cx="78940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Calibri"/>
              </a:rPr>
              <a:t>Rich text, @mentions, internal vs client-visible toggle, 5-minute edit window then locked. Stamped with the stage and iteration it was written in.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882896"/>
            <a:ext cx="10911535" cy="7589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4974336"/>
            <a:ext cx="50292" cy="57607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13892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4F46E5"/>
                </a:solidFill>
                <a:latin typeface="Calibri"/>
              </a:rPr>
              <a:t>Mail alert engine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0" y="5029200"/>
            <a:ext cx="78940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Calibri"/>
              </a:rPr>
              <a:t>A mail fires on every stage transition and every event that changes who is responsible. Queued, templated, threaded, logged, retried.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3737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Product Blueprint v1.2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54335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50292" cy="4206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45720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11827"/>
                </a:solidFill>
                <a:latin typeface="Calibri"/>
              </a:rPr>
              <a:t>Comments interleave into one chronological history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960120"/>
            <a:ext cx="1072865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6B7280"/>
                </a:solidFill>
                <a:latin typeface="Calibri"/>
              </a:rPr>
              <a:t>So "what happened on this ticket" is a single readable timeline, not two lists to reconcile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81328"/>
            <a:ext cx="10911535" cy="2514600"/>
          </a:xfrm>
          <a:prstGeom prst="roundRect">
            <a:avLst>
              <a:gd name="adj" fmla="val 6000"/>
            </a:avLst>
          </a:prstGeom>
          <a:solidFill>
            <a:srgbClr val="1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627632"/>
            <a:ext cx="10509199" cy="2221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>
                <a:solidFill>
                  <a:srgbClr val="E5E8F0"/>
                </a:solidFill>
                <a:latin typeface="Consolas"/>
              </a:rPr>
              <a:t>06 Aug 14:22   💬  Ravi Kumar (Developer) · Development · iteration 2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>
                <a:solidFill>
                  <a:srgbClr val="E5E8F0"/>
                </a:solidFill>
                <a:latin typeface="Consolas"/>
              </a:rPr>
              <a:t>               "Root cause is the retry timeout. Patch pushed, ready for QA."       [internal]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>
                <a:solidFill>
                  <a:srgbClr val="E5E8F0"/>
                </a:solidFill>
                <a:latin typeface="Consolas"/>
              </a:rPr>
              <a:t/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>
                <a:solidFill>
                  <a:srgbClr val="E5E8F0"/>
                </a:solidFill>
                <a:latin typeface="Consolas"/>
              </a:rPr>
              <a:t>06 Aug 14:25   ➡  Handoff   Development → QA    Ravi Kumar → Anil Sharma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>
                <a:solidFill>
                  <a:srgbClr val="E5E8F0"/>
                </a:solidFill>
                <a:latin typeface="Consolas"/>
              </a:rPr>
              <a:t>               Note: "Please retest the checkout path on staging"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>
                <a:solidFill>
                  <a:srgbClr val="E5E8F0"/>
                </a:solidFill>
                <a:latin typeface="Consolas"/>
              </a:rPr>
              <a:t/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>
                <a:solidFill>
                  <a:srgbClr val="E5E8F0"/>
                </a:solidFill>
                <a:latin typeface="Consolas"/>
              </a:rPr>
              <a:t>06 Aug 16:40   🔺  Level changed   High → Critical    by System (SLA breach)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>
                <a:solidFill>
                  <a:srgbClr val="E5E8F0"/>
                </a:solidFill>
                <a:latin typeface="Consolas"/>
              </a:rPr>
              <a:t/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>
                <a:solidFill>
                  <a:srgbClr val="E5E8F0"/>
                </a:solidFill>
                <a:latin typeface="Consolas"/>
              </a:rPr>
              <a:t>07 Aug 09:15   💬  Anil Sharma (QA) · QA · iteration 2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>
                <a:solidFill>
                  <a:srgbClr val="E5E8F0"/>
                </a:solidFill>
                <a:latin typeface="Consolas"/>
              </a:rPr>
              <a:t>               "Verified on staging, three of three defects closed."                [internal]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>
                <a:solidFill>
                  <a:srgbClr val="E5E8F0"/>
                </a:solidFill>
                <a:latin typeface="Consolas"/>
              </a:rPr>
              <a:t/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>
                <a:solidFill>
                  <a:srgbClr val="E5E8F0"/>
                </a:solidFill>
                <a:latin typeface="Consolas"/>
              </a:rPr>
              <a:t>07 Aug 09:16   📎  Attachment added   qa-signoff-report.pdf (412 KB)   by Anil Sharma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270248"/>
            <a:ext cx="5349240" cy="1298448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453128"/>
            <a:ext cx="48006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4F46E5"/>
                </a:solidFill>
                <a:latin typeface="Calibri"/>
              </a:rPr>
              <a:t>Comments are the permanent record.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4F46E5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4F46E5"/>
                </a:solidFill>
                <a:latin typeface="Calibri"/>
              </a:rPr>
              <a:t>Chat is conversational and ephemeral; comments are auditable, stamped with stage and iteration, and immutable after five minutes.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4270248"/>
            <a:ext cx="5287975" cy="1298448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4453128"/>
            <a:ext cx="473933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991B1B"/>
                </a:solidFill>
                <a:latin typeface="Calibri"/>
              </a:rPr>
              <a:t>Default to internal, always.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991B1B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991B1B"/>
                </a:solidFill>
                <a:latin typeface="Calibri"/>
              </a:rPr>
              <a:t>An accidental leak to a client is far costlier than an extra click. Client-visible renders in a different colour before you post.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3737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Product Blueprint v1.2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54335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50292" cy="4206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45720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11827"/>
                </a:solidFill>
                <a:latin typeface="Calibri"/>
              </a:rPr>
              <a:t>Client master &amp; Excel bulk import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960120"/>
            <a:ext cx="1072865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6B7280"/>
                </a:solidFill>
                <a:latin typeface="Calibri"/>
              </a:rPr>
              <a:t>A five-step wizard, because a silent import that half-succeeds is worse than no import at all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81328"/>
            <a:ext cx="603504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1247" y="1618488"/>
            <a:ext cx="292608" cy="292608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673352"/>
            <a:ext cx="2926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1563624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11827"/>
                </a:solidFill>
                <a:latin typeface="Calibri"/>
              </a:rPr>
              <a:t>DOWNLOAD TEMPLATE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1783080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Pre-formatted .xlsx with exact headers, validation dropdowns and one example row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103120"/>
            <a:ext cx="603504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1247" y="2240280"/>
            <a:ext cx="292608" cy="292608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295144"/>
            <a:ext cx="2926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2185416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11827"/>
                </a:solidFill>
                <a:latin typeface="Calibri"/>
              </a:rPr>
              <a:t>UPLOAD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2404872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Drag-drop .xlsx/.csv, max 5 MB, up to 5,000 rows, parsed server-side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724912"/>
            <a:ext cx="603504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1247" y="2862072"/>
            <a:ext cx="292608" cy="292608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2916936"/>
            <a:ext cx="2926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61872" y="280720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11827"/>
                </a:solidFill>
                <a:latin typeface="Calibri"/>
              </a:rPr>
              <a:t>MAP COLUMNS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61872" y="3026664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Auto-matched by header with manual override. Presets saved for next time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346704"/>
            <a:ext cx="603504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41247" y="3483864"/>
            <a:ext cx="292608" cy="292608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7" y="3538728"/>
            <a:ext cx="2926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61872" y="3429000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11827"/>
                </a:solidFill>
                <a:latin typeface="Calibri"/>
              </a:rPr>
              <a:t>VALIDATE + PREVIEW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61872" y="3648456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Dry run — nothing written. Per-row: will create · will update · duplicate · rejected + reason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3968496"/>
            <a:ext cx="603504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1247" y="4105656"/>
            <a:ext cx="292608" cy="292608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7" y="4160520"/>
            <a:ext cx="2926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61872" y="4050792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11827"/>
                </a:solidFill>
                <a:latin typeface="Calibri"/>
              </a:rPr>
              <a:t>COMMIT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61872" y="4270248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Background job with progress. Downloadable error report for every rejected row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949440" y="1481328"/>
            <a:ext cx="4602175" cy="160020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23760" y="1664208"/>
            <a:ext cx="4053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065F46"/>
                </a:solidFill>
                <a:latin typeface="Calibri"/>
              </a:rPr>
              <a:t>VALIDATION RULES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0" y="2011680"/>
            <a:ext cx="405353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065F46"/>
                </a:solidFill>
                <a:latin typeface="Calibri"/>
              </a:rPr>
              <a:t>Client code unique · name required · email format · country against ISO list · duplicate detection on code then email domain · existing records UPDATED, never duplicated (upsert on code)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949440" y="3264408"/>
            <a:ext cx="4602175" cy="132588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23760" y="3447288"/>
            <a:ext cx="405353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4F46E5"/>
                </a:solidFill>
                <a:latin typeface="Calibri"/>
              </a:rPr>
              <a:t>Every import writes an import_batch row — so a bad import can be identified and reversed as a set.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4F46E5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4F46E5"/>
                </a:solidFill>
                <a:latin typeface="Calibri"/>
              </a:rPr>
              <a:t>Same wizard registered twice: clients and resources.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949440" y="4773168"/>
            <a:ext cx="4602175" cy="7955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23760" y="4937760"/>
            <a:ext cx="405353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111827"/>
                </a:solidFill>
                <a:latin typeface="Calibri"/>
              </a:rPr>
              <a:t>Deactivating a client with open tickets warns and blocks new tickets — but never hides historical ones.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43737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Product Blueprint v1.2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54335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50292" cy="4206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45720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11827"/>
                </a:solidFill>
                <a:latin typeface="Calibri"/>
              </a:rPr>
              <a:t>Mail is the guaranteed channel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960120"/>
            <a:ext cx="1072865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6B7280"/>
                </a:solidFill>
                <a:latin typeface="Calibri"/>
              </a:rPr>
              <a:t>In-app popups only reach someone who is logged in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81328"/>
          <a:ext cx="10908792" cy="27980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17520"/>
                <a:gridCol w="2011680"/>
                <a:gridCol w="4297680"/>
                <a:gridCol w="1581912"/>
              </a:tblGrid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Event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To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Subject pattern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Optional?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Ticket assigned to you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Assignee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[CRM-26-00347] New ticket assigned — Critical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EF4444"/>
                          </a:solidFill>
                          <a:latin typeface="Calibri"/>
                        </a:rPr>
                        <a:t>never optional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Handoff — ribbon moves to you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New stage owner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[CRM-26-00347] Handed to you at QA by Ravi Kumar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EF4444"/>
                          </a:solidFill>
                          <a:latin typeface="Calibri"/>
                        </a:rPr>
                        <a:t>never optional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Sent back for rework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Developer, cc PM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[CRM-26-00347] QA failed — 3 defects returned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EF4444"/>
                          </a:solidFill>
                          <a:latin typeface="Calibri"/>
                        </a:rPr>
                        <a:t>never optional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Escalated to Critical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Assignee, PM, RM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[CRM-26-00347] Escalated to CRITICAL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EF4444"/>
                          </a:solidFill>
                          <a:latin typeface="Calibri"/>
                        </a:rPr>
                        <a:t>never optional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SLA breached / delayed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Assignee, PM, RM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[CRM-26-00347] Overdue by 3 days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EF4444"/>
                          </a:solidFill>
                          <a:latin typeface="Calibri"/>
                        </a:rPr>
                        <a:t>never optional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Comment added · @mention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Assignee, watchers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[CRM-26-00347] New comment from Meera Prasad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0B981"/>
                          </a:solidFill>
                          <a:latin typeface="Calibri"/>
                        </a:rPr>
                        <a:t>digest option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Daily digest 08:30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Everyone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Your open tickets — 4 due today, 1 overdue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0B981"/>
                          </a:solidFill>
                          <a:latin typeface="Calibri"/>
                        </a:rPr>
                        <a:t>opt-out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4498848"/>
            <a:ext cx="10911535" cy="1097280"/>
          </a:xfrm>
          <a:prstGeom prst="roundRect">
            <a:avLst>
              <a:gd name="adj" fmla="val 6000"/>
            </a:avLst>
          </a:prstGeom>
          <a:solidFill>
            <a:srgbClr val="1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19" y="4663440"/>
            <a:ext cx="102714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A5B4FC"/>
                </a:solidFill>
                <a:latin typeface="Calibri"/>
              </a:rPr>
              <a:t>ENGINEERING RULES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19" y="4983480"/>
            <a:ext cx="102714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Queued, never sent inline — a slow SMTP server must never slow a handoff.   ·   Message-ID / In-Reply-To keyed on the ticket, so a whole ticket collapses into one thread.   ·   Every send logged; 3 retries; bounce webhooks.   ·   One mail per recipient per ticket per minute.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3737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Product Blueprint v1.2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54335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50292" cy="4206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45720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11827"/>
                </a:solidFill>
                <a:latin typeface="Calibri"/>
              </a:rPr>
              <a:t>Effort, velocity and SLA — the calculations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70432"/>
            <a:ext cx="5349240" cy="2880360"/>
          </a:xfrm>
          <a:prstGeom prst="roundRect">
            <a:avLst>
              <a:gd name="adj" fmla="val 6000"/>
            </a:avLst>
          </a:prstGeom>
          <a:solidFill>
            <a:srgbClr val="1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316736"/>
            <a:ext cx="4946903" cy="2587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>
                <a:solidFill>
                  <a:srgbClr val="E5E8F0"/>
                </a:solidFill>
                <a:latin typeface="Consolas"/>
              </a:rPr>
              <a:t>Effort variance %  = (logged − estimated) / estimated × 100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>
                <a:solidFill>
                  <a:srgbClr val="E5E8F0"/>
                </a:solidFill>
                <a:latin typeface="Consolas"/>
              </a:rPr>
              <a:t>Cycle time         = actual_close − cycle.start   (working hrs)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>
                <a:solidFill>
                  <a:srgbClr val="E5E8F0"/>
                </a:solidFill>
                <a:latin typeface="Consolas"/>
              </a:rPr>
              <a:t>Lead time          = actual_close − date_reported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>
                <a:solidFill>
                  <a:srgbClr val="E5E8F0"/>
                </a:solidFill>
                <a:latin typeface="Consolas"/>
              </a:rPr>
              <a:t>SLA compliance %   = closed_within_pcd / total_closed × 100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>
                <a:solidFill>
                  <a:srgbClr val="E5E8F0"/>
                </a:solidFill>
                <a:latin typeface="Consolas"/>
              </a:rPr>
              <a:t>Reopen rate %      = tickets_reopened / total_closed × 100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>
                <a:solidFill>
                  <a:srgbClr val="E5E8F0"/>
                </a:solidFill>
                <a:latin typeface="Consolas"/>
              </a:rPr>
              <a:t/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>
                <a:solidFill>
                  <a:srgbClr val="E5E8F0"/>
                </a:solidFill>
                <a:latin typeface="Consolas"/>
              </a:rPr>
              <a:t>Time in stage      = exited_at − entered_at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>
                <a:solidFill>
                  <a:srgbClr val="E5E8F0"/>
                </a:solidFill>
                <a:latin typeface="Consolas"/>
              </a:rPr>
              <a:t>Active in stage    = Σ effort with that stage + iteration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>
                <a:solidFill>
                  <a:srgbClr val="E5E8F0"/>
                </a:solidFill>
                <a:latin typeface="Consolas"/>
              </a:rPr>
              <a:t>Idle / queue time  = time in stage − active time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>
                <a:solidFill>
                  <a:srgbClr val="E5E8F0"/>
                </a:solidFill>
                <a:latin typeface="Consolas"/>
              </a:rPr>
              <a:t>Rework rate %      = iteration_no &gt; 1 / total × 100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>
                <a:solidFill>
                  <a:srgbClr val="E5E8F0"/>
                </a:solidFill>
                <a:latin typeface="Consolas"/>
              </a:rPr>
              <a:t>Handoff latency    = next entered_at − prev exited_at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>
                <a:solidFill>
                  <a:srgbClr val="E5E8F0"/>
                </a:solidFill>
                <a:latin typeface="Consolas"/>
              </a:rPr>
              <a:t>First-time-right % = closed at iteration 1 / total closed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170432"/>
            <a:ext cx="5287975" cy="137160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371600"/>
            <a:ext cx="47393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4F46E5"/>
                </a:solidFill>
                <a:latin typeface="Calibri"/>
              </a:rPr>
              <a:t>RESOURCE VELOCITY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1719072"/>
            <a:ext cx="473933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4F46E5"/>
                </a:solidFill>
                <a:latin typeface="Calibri"/>
              </a:rPr>
              <a:t>Tickets closed per week (count) AND effort-weighted: Σ effort-hours closed per week.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4F46E5"/>
                </a:solidFill>
                <a:latin typeface="Calibri"/>
              </a:rPr>
              <a:t>Utilisation % = logged hours / available hours.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724912"/>
            <a:ext cx="5287975" cy="1325880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2926080"/>
            <a:ext cx="47393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92400E"/>
                </a:solidFill>
                <a:latin typeface="Calibri"/>
              </a:rPr>
              <a:t>THE WORKING CALENDAR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3273552"/>
            <a:ext cx="473933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92400E"/>
                </a:solidFill>
                <a:latin typeface="Calibri"/>
              </a:rPr>
              <a:t>Weekends + org holidays + resource leave — so a ticket raised Friday 6 PM with a 4-hour SLA isn't breached on Saturday morning.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233672"/>
            <a:ext cx="10911535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19" y="4398264"/>
            <a:ext cx="102714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6B7280"/>
                </a:solidFill>
                <a:latin typeface="Calibri"/>
              </a:rPr>
              <a:t>ESCALATION ENGINE  ·  scheduled worker every 15 minutes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19" y="4718304"/>
            <a:ext cx="102714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80% of SLA elapsed → warning   ·   past planned close → level becomes CRITICAL, alert to Reporting Manager   ·   delayed &gt; 48 h → escalate to L2   ·   no update in 3 working days → nudge   ·   unassigned &gt; 2 h → triage alert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3737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Product Blueprint v1.2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54335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50292" cy="4206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45720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11827"/>
                </a:solidFill>
                <a:latin typeface="Calibri"/>
              </a:rPr>
              <a:t>34 screens across 8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960120"/>
            <a:ext cx="1072865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6B7280"/>
                </a:solidFill>
                <a:latin typeface="Calibri"/>
              </a:rPr>
              <a:t>Each maps 1:1 to a Figma frame and a Jira epic, so design, dev and QA share one identifier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81328"/>
            <a:ext cx="10911535" cy="484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45720" cy="3383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161848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11827"/>
                </a:solidFill>
                <a:latin typeface="Calibri"/>
              </a:rPr>
              <a:t>Authentication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18488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4F46E5"/>
                </a:solidFill>
                <a:latin typeface="Consolas"/>
              </a:rPr>
              <a:t>S-01 … S-04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1600200"/>
            <a:ext cx="633953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Calibri"/>
              </a:rPr>
              <a:t>Login · forgot/reset · change password · 2FA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029968"/>
            <a:ext cx="10911535" cy="484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103120"/>
            <a:ext cx="45720" cy="338328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216712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11827"/>
                </a:solidFill>
                <a:latin typeface="Calibri"/>
              </a:rPr>
              <a:t>Common shell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2167128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06B6D4"/>
                </a:solidFill>
                <a:latin typeface="Consolas"/>
              </a:rPr>
              <a:t>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2148840"/>
            <a:ext cx="633953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Calibri"/>
              </a:rPr>
              <a:t>Sidebar · top bar · global search · notification bell · toast layer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578608"/>
            <a:ext cx="10911535" cy="484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2651760"/>
            <a:ext cx="45720" cy="33832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" y="271576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11827"/>
                </a:solidFill>
                <a:latin typeface="Calibri"/>
              </a:rPr>
              <a:t>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7480" y="2715768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8B5CF6"/>
                </a:solidFill>
                <a:latin typeface="Consolas"/>
              </a:rPr>
              <a:t>S-05, S-06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2697480"/>
            <a:ext cx="633953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Calibri"/>
              </a:rPr>
              <a:t>Role-aware dashboard · chart drill-down modal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127248"/>
            <a:ext cx="10911535" cy="484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3200400"/>
            <a:ext cx="45720" cy="3383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" y="326440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11827"/>
                </a:solidFill>
                <a:latin typeface="Calibri"/>
              </a:rPr>
              <a:t>Master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264408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14B8A6"/>
                </a:solidFill>
                <a:latin typeface="Consolas"/>
              </a:rPr>
              <a:t>S-07 … S-16, S-32 … S-34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3246120"/>
            <a:ext cx="633953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Calibri"/>
              </a:rPr>
              <a:t>Resource · role · project · task type · priority · client · import wizard · workflow templates · calendar · notification templates · audit log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3675888"/>
            <a:ext cx="10911535" cy="484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" y="3749040"/>
            <a:ext cx="45720" cy="3383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7824" y="381304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11827"/>
                </a:solidFill>
                <a:latin typeface="Calibri"/>
              </a:rPr>
              <a:t>Tickets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97480" y="3813048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4F46E5"/>
                </a:solidFill>
                <a:latin typeface="Consolas"/>
              </a:rPr>
              <a:t>S-17 … S-24, S-29 … S-31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0" y="3794760"/>
            <a:ext cx="633953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Calibri"/>
              </a:rPr>
              <a:t>List · My Tasks · create · detail · quick update · reopen · close · bulk reassign · handoff · template designer · stage queue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4224528"/>
            <a:ext cx="10911535" cy="484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" y="4297680"/>
            <a:ext cx="45720" cy="338328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7824" y="436168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11827"/>
                </a:solidFill>
                <a:latin typeface="Calibri"/>
              </a:rPr>
              <a:t>Chat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97480" y="4361688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06B6D4"/>
                </a:solidFill>
                <a:latin typeface="Consolas"/>
              </a:rPr>
              <a:t>S-25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37760" y="4343400"/>
            <a:ext cx="633953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Calibri"/>
              </a:rPr>
              <a:t>Ticket thread · direct message · project channel · Ask Status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4773168"/>
            <a:ext cx="10911535" cy="484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" y="4846320"/>
            <a:ext cx="45720" cy="33832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77824" y="491032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11827"/>
                </a:solidFill>
                <a:latin typeface="Calibri"/>
              </a:rPr>
              <a:t>Notifications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97480" y="4910328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8B5CF6"/>
                </a:solidFill>
                <a:latin typeface="Consolas"/>
              </a:rPr>
              <a:t>S-26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37760" y="4892040"/>
            <a:ext cx="633953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Calibri"/>
              </a:rPr>
              <a:t>Notification centre · per-user preference matrix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" y="5321807"/>
            <a:ext cx="10911535" cy="484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40080" y="5394959"/>
            <a:ext cx="45720" cy="3383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7824" y="545896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11827"/>
                </a:solidFill>
                <a:latin typeface="Calibri"/>
              </a:rPr>
              <a:t>Reports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697480" y="5458968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14B8A6"/>
                </a:solidFill>
                <a:latin typeface="Consolas"/>
              </a:rPr>
              <a:t>S-27, S-28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37760" y="5440679"/>
            <a:ext cx="633953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Calibri"/>
              </a:rPr>
              <a:t>Reports hub — 18 reports · Resource 360° profile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643737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Product Blueprint v1.2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454335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50292" cy="4206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45720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11827"/>
                </a:solidFill>
                <a:latin typeface="Calibri"/>
              </a:rPr>
              <a:t>Dashboard — 20 widgets, every one drill-down enabled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960120"/>
            <a:ext cx="1072865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6B7280"/>
                </a:solidFill>
                <a:latin typeface="Calibri"/>
              </a:rPr>
              <a:t>Each card and chart segment deep-links to a pre-filtered ticket list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81328"/>
            <a:ext cx="6675120" cy="6035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81912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4F46E5"/>
                </a:solidFill>
                <a:latin typeface="Calibri"/>
              </a:rPr>
              <a:t>KPI cards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6126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Calibri"/>
              </a:rPr>
              <a:t>Total created · Open/pending · Closed · Critical · Delayed · Reopened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57984"/>
            <a:ext cx="6675120" cy="6035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25856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06B6D4"/>
                </a:solidFill>
                <a:latin typeface="Calibri"/>
              </a:rPr>
              <a:t>Distribution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05456"/>
            <a:ext cx="6126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Calibri"/>
              </a:rPr>
              <a:t>Task-type donut · Priority bar · Project treemap · Aging buckets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834640"/>
            <a:ext cx="6675120" cy="6035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935224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8B5CF6"/>
                </a:solidFill>
                <a:latin typeface="Calibri"/>
              </a:rPr>
              <a:t>Trend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182112"/>
            <a:ext cx="6126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Calibri"/>
              </a:rPr>
              <a:t>Daily status stacked area · Resource velocity multi-line · Date-wise heatmap · Handoff latency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511296"/>
            <a:ext cx="6675120" cy="6035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611880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4B8A6"/>
                </a:solidFill>
                <a:latin typeface="Calibri"/>
              </a:rPr>
              <a:t>Load &amp; SLA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858768"/>
            <a:ext cx="6126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Calibri"/>
              </a:rPr>
              <a:t>Resource-wise load bar · SLA compliance radial gauge · Client-wise volume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187952"/>
            <a:ext cx="6675120" cy="6035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288536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4F46E5"/>
                </a:solidFill>
                <a:latin typeface="Calibri"/>
              </a:rPr>
              <a:t>Ribbon-driven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535424"/>
            <a:ext cx="6126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Calibri"/>
              </a:rPr>
              <a:t>Stage funnel (WIP) · Rework / ping-pong tickets · Avg time per stage, active vs idle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89519" y="1481328"/>
            <a:ext cx="3962095" cy="164592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1682496"/>
            <a:ext cx="341345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4F46E5"/>
                </a:solidFill>
                <a:latin typeface="Calibri"/>
              </a:rPr>
              <a:t>Developer's dashboard shows only 8 of the 20, scoped to assignee = me — plus "My due today / this week".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4F46E5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4F46E5"/>
                </a:solidFill>
                <a:latin typeface="Calibri"/>
              </a:rPr>
              <a:t>Role-awareness is enforced server-side, not by hiding cards.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89519" y="3310128"/>
            <a:ext cx="3962095" cy="155448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63840" y="3493008"/>
            <a:ext cx="3413455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065F46"/>
                </a:solidFill>
                <a:latin typeface="Calibri"/>
              </a:rPr>
              <a:t>Reads come from pre-aggregated summary tables refreshed every 5 minutes.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065F46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065F46"/>
                </a:solidFill>
                <a:latin typeface="Calibri"/>
              </a:rPr>
              <a:t>Never a live COUNT(*) over the full ticket table.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3737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Product Blueprint v1.2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54335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50292" cy="4206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45720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11827"/>
                </a:solidFill>
                <a:latin typeface="Calibri"/>
              </a:rPr>
              <a:t>18 reports — all filterable, exportable and schedulable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960120"/>
            <a:ext cx="1072865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6B7280"/>
                </a:solidFill>
                <a:latin typeface="Calibri"/>
              </a:rPr>
              <a:t>Excel · CSV · PDF, with daily / weekly / monthly email scheduling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81328"/>
          <a:ext cx="10908792" cy="33284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40480"/>
                <a:gridCol w="7068312"/>
              </a:tblGrid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Report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What it answers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Resource Performance Scorecard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Assigned, closed, on-time, SLA %, cycle time, variance, reopen rate, utilisation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Resource Velocity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Tickets &amp; effort-hours closed per week, 4-week rolling average, multi-resource comparison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Effort Summary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Effort by resource × project × task type, pivot-style with drill-down to individual logs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Delayed / SLA Breach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Every breach, days overdue, escalation level, reason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Stage Funnel / WIP · Stage Cycle Time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Live count per stage, bottleneck highlighted; avg time split into active vs idle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Rework Analysis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Rework rate by developer, QA rejection rate, first-time-right %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Resource Contribution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The per-resource-per-stage roll-up, across any ticket set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Audit / Compliance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Full immutable trail export for a ticket or date range, including every handoff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Client Report · Email Delivery Log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Volume, SLA and satisfaction per client; every alert sent, with delivery status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4828032"/>
            <a:ext cx="10911535" cy="749808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19" y="4992624"/>
            <a:ext cx="10271455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4F46E5"/>
                </a:solidFill>
                <a:latin typeface="Calibri"/>
              </a:rPr>
              <a:t>Plus: Task Type Analysis · Reopen Analysis · Date-wise · Project Health · Aging · Workload/Capacity · Deployment Report.   Resource 360° Profile reaches all of it in one click from anywhere a name appears.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3737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Product Blueprint v1.2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54335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50292" cy="4206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45720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11827"/>
                </a:solidFill>
                <a:latin typeface="Calibri"/>
              </a:rPr>
              <a:t>Design system — light theme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960120"/>
            <a:ext cx="1072865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6B7280"/>
                </a:solidFill>
                <a:latin typeface="Calibri"/>
              </a:rPr>
              <a:t>WCAG AA on every token, keyboard navigable, prefers-reduced-motion respected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81328"/>
            <a:ext cx="1645920" cy="54864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848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11827"/>
                </a:solidFill>
                <a:latin typeface="Calibri"/>
              </a:rPr>
              <a:t>bg-app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67712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onsolas"/>
              </a:rPr>
              <a:t>#F7F8FC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68880" y="1481328"/>
            <a:ext cx="164592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68880" y="20848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11827"/>
                </a:solidFill>
                <a:latin typeface="Calibri"/>
              </a:rPr>
              <a:t>surface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267712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onsolas"/>
              </a:rPr>
              <a:t>#FFFFFF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481328"/>
            <a:ext cx="1645920" cy="548640"/>
          </a:xfrm>
          <a:prstGeom prst="roundRect">
            <a:avLst/>
          </a:prstGeom>
          <a:solidFill>
            <a:srgbClr val="F1F3F9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20848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11827"/>
                </a:solidFill>
                <a:latin typeface="Calibri"/>
              </a:rPr>
              <a:t>subtle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267712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onsolas"/>
              </a:rPr>
              <a:t>#F1F3F9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481328"/>
            <a:ext cx="1645920" cy="548640"/>
          </a:xfrm>
          <a:prstGeom prst="roundRect">
            <a:avLst/>
          </a:prstGeom>
          <a:solidFill>
            <a:srgbClr val="E5E8F0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20848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11827"/>
                </a:solidFill>
                <a:latin typeface="Calibri"/>
              </a:rPr>
              <a:t>border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267712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onsolas"/>
              </a:rPr>
              <a:t>#E5E8F0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79" y="1481328"/>
            <a:ext cx="1645920" cy="548640"/>
          </a:xfrm>
          <a:prstGeom prst="roundRect">
            <a:avLst/>
          </a:prstGeom>
          <a:solidFill>
            <a:srgbClr val="4F46E5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79" y="20848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11827"/>
                </a:solidFill>
                <a:latin typeface="Calibri"/>
              </a:rPr>
              <a:t>primary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2267712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onsolas"/>
              </a:rPr>
              <a:t>#4F46E5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84080" y="1481328"/>
            <a:ext cx="1645920" cy="54864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0" y="20848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11827"/>
                </a:solidFill>
                <a:latin typeface="Calibri"/>
              </a:rPr>
              <a:t>primary-soft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0" y="2267712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onsolas"/>
              </a:rPr>
              <a:t>#EEF2FF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2441448"/>
            <a:ext cx="1645920" cy="5486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04495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11827"/>
                </a:solidFill>
                <a:latin typeface="Calibri"/>
              </a:rPr>
              <a:t>text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227832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onsolas"/>
              </a:rPr>
              <a:t>#111827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468880" y="2441448"/>
            <a:ext cx="1645920" cy="548640"/>
          </a:xfrm>
          <a:prstGeom prst="roundRect">
            <a:avLst/>
          </a:prstGeom>
          <a:solidFill>
            <a:srgbClr val="6B7280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68880" y="304495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11827"/>
                </a:solidFill>
                <a:latin typeface="Calibri"/>
              </a:rPr>
              <a:t>text-2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68880" y="3227832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onsolas"/>
              </a:rPr>
              <a:t>#6B7280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97680" y="2441448"/>
            <a:ext cx="1645920" cy="548640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97680" y="304495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11827"/>
                </a:solidFill>
                <a:latin typeface="Calibri"/>
              </a:rPr>
              <a:t>success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80" y="3227832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onsolas"/>
              </a:rPr>
              <a:t>#10B981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26480" y="2441448"/>
            <a:ext cx="1645920" cy="54864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26480" y="304495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11827"/>
                </a:solidFill>
                <a:latin typeface="Calibri"/>
              </a:rPr>
              <a:t>warning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0" y="3227832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onsolas"/>
              </a:rPr>
              <a:t>#F59E0B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55279" y="2441448"/>
            <a:ext cx="1645920" cy="548640"/>
          </a:xfrm>
          <a:prstGeom prst="roundRect">
            <a:avLst/>
          </a:prstGeom>
          <a:solidFill>
            <a:srgbClr val="EF4444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55279" y="304495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11827"/>
                </a:solidFill>
                <a:latin typeface="Calibri"/>
              </a:rPr>
              <a:t>danger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55279" y="3227832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onsolas"/>
              </a:rPr>
              <a:t>#EF4444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784080" y="2441448"/>
            <a:ext cx="1645920" cy="548640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784080" y="304495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11827"/>
                </a:solidFill>
                <a:latin typeface="Calibri"/>
              </a:rPr>
              <a:t>info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84080" y="3227832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onsolas"/>
              </a:rPr>
              <a:t>#3B82F6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" y="3630168"/>
            <a:ext cx="534924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3813048"/>
            <a:ext cx="4800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6B7280"/>
                </a:solidFill>
                <a:latin typeface="Calibri"/>
              </a:rPr>
              <a:t>FOUNDATIONS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151376"/>
            <a:ext cx="4800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111827"/>
                </a:solidFill>
                <a:latin typeface="Calibri"/>
              </a:rPr>
              <a:t>Type   Inter / Plus Jakarta Sans · base 14/20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111827"/>
                </a:solidFill>
                <a:latin typeface="Calibri"/>
              </a:rPr>
              <a:t>Space  4px scale · card padding 20 · gutter 24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111827"/>
                </a:solidFill>
                <a:latin typeface="Calibri"/>
              </a:rPr>
              <a:t>Radius 12 cards · 8 inputs · 999 chips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111827"/>
                </a:solidFill>
                <a:latin typeface="Calibri"/>
              </a:rPr>
              <a:t>Motion 150–200 ms ease-out · slide-over from right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111827"/>
                </a:solidFill>
                <a:latin typeface="Calibri"/>
              </a:rPr>
              <a:t>Loading  skeletons, never spinners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63640" y="3630168"/>
            <a:ext cx="5287975" cy="1920240"/>
          </a:xfrm>
          <a:prstGeom prst="roundRect">
            <a:avLst>
              <a:gd name="adj" fmla="val 6000"/>
            </a:avLst>
          </a:prstGeom>
          <a:solidFill>
            <a:srgbClr val="1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37960" y="3813048"/>
            <a:ext cx="47393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A5B4FC"/>
                </a:solidFill>
                <a:latin typeface="Calibri"/>
              </a:rPr>
              <a:t>NEVER COLOUR ALONE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37960" y="4178808"/>
            <a:ext cx="4739335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Every ribbon state carries an icon and a text label as well as a colour — so it stays readable for colour-blind users and in print.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Chart palette is colour-blind safe.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643737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Product Blueprint v1.2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454335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50292" cy="4206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45720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11827"/>
                </a:solidFill>
                <a:latin typeface="Calibri"/>
              </a:rPr>
              <a:t>Delivery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960120"/>
            <a:ext cx="1072865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6B7280"/>
                </a:solidFill>
                <a:latin typeface="Calibri"/>
              </a:rPr>
              <a:t>Roughly five months to go-live with a seven-person team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81328"/>
          <a:ext cx="10908791" cy="3566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7200"/>
                <a:gridCol w="1737360"/>
                <a:gridCol w="914400"/>
                <a:gridCol w="7799831"/>
              </a:tblGrid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Phase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Weeks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Scope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4F46E5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Foundation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1–2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Repo, CI/CD, DB schema + migrations, design system, auth skeleton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4F46E5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Core MVP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3–7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Login, masters, client master + Excel import, ticket CRUD with priority/client/attachments, comments, cycle + history + effort, workflow templates, ribbon, Journey tab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4F46E5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Intelligence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8–11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Dashboard + drill-down, SLA engine, stage SLA alerts, escalation, notification centre, full mail engine, stage queue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4F46E5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Collaboration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12–14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Chat (ticket / DM / project), Ask Status, mentions, watchers, attachments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4F46E5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Reporting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15–17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Reports hub, scorecard, velocity, stage cycle time, rework analysis, exports, Resource 360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4F46E5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Hardening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18–20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Audit viewer, hash-chain verification, performance, security audit, UAT, training, go-live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6B7280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Extensions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post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Client portal, email-to-ticket, knowledge base, mobile app, SSO, Teams/Slack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5138928"/>
            <a:ext cx="10911535" cy="54864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19" y="5266944"/>
            <a:ext cx="1027145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4F46E5"/>
                </a:solidFill>
                <a:latin typeface="Calibri"/>
              </a:rPr>
              <a:t>Team: 1 PM/BA · 1 architect · 2 backend · 2 frontend · 1 QA · 0.5 DevOps · 0.5 designer.   The ribbon adds ~2–3 weeks of the phase-1 budget.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3737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Product Blueprint v1.2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54335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50292" cy="4206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45720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11827"/>
                </a:solidFill>
                <a:latin typeface="Calibri"/>
              </a:rPr>
              <a:t>Risks and mitigations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170432"/>
          <a:ext cx="10908792" cy="33284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754880"/>
                <a:gridCol w="6153912"/>
              </a:tblGrid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Mitigation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History integrity challenged in a client dispute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Hash-chained append-only tables, nightly verification, audit export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Notification fatigue → people ignore alerts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Per-user preference matrix, digests, escalations reserved for genuine breaches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Dashboard slows as data grows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Pre-aggregated summary tables, partial indexes, Redis cache, archival after 3 years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Resources under-log effort → velocity is fiction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Effort mandatory at handoff, daily reminders, manager approval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Role scope bug leaks another team's tickets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One central guard + automated permission tests covering every role × route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Ribbon unreadable at 8 stages on a laptop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Compact dot variant, horizontal scroll with current segment auto-centred, collapsed completed stages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Teams game the ribbon to stop their stage clock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Idle-vs-active reported alongside duration; iteration counter makes ping-pong visible within a day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Assignee never sees the alert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Mail + in-app + queued popup on next login, with a per-ticket delivery log — a missed alert is provable, not deniable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Internal debug notes leak to a client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Comments and attachments default to internal; client-visible is an explicit, differently-coloured toggle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643737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Product Blueprint v1.2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1E1B4B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85800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Governance decisions to lock before build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98448"/>
            <a:ext cx="1188720" cy="36576"/>
          </a:xfrm>
          <a:prstGeom prst="rect">
            <a:avLst/>
          </a:prstGeom>
          <a:solidFill>
            <a:srgbClr val="A5B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Can a Developer close a ticket?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709928"/>
            <a:ext cx="50593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C7D2FE"/>
                </a:solidFill>
                <a:latin typeface="Calibri"/>
              </a:rPr>
              <a:t>→  Resolved only — closure belongs to the Sign-off stage owner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Can a ticket skip QA?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258568"/>
            <a:ext cx="50593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C7D2FE"/>
                </a:solidFill>
                <a:latin typeface="Calibri"/>
              </a:rPr>
              <a:t>→  PM/Admin only, reason mandatory, never for Production Bug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8892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Does rework reset the Planned Close Date?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807208"/>
            <a:ext cx="50593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C7D2FE"/>
                </a:solidFill>
                <a:latin typeface="Calibri"/>
              </a:rPr>
              <a:t>→  No — the original date stands; that is the honest measure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33756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Is effort mandatory at handoff?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355848"/>
            <a:ext cx="50593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C7D2FE"/>
                </a:solidFill>
                <a:latin typeface="Calibri"/>
              </a:rPr>
              <a:t>→  Yes, blocking — otherwise the roll-up degrades within weeks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88620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Comments default internal or client-visible?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904487"/>
            <a:ext cx="50593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C7D2FE"/>
                </a:solidFill>
                <a:latin typeface="Calibri"/>
              </a:rPr>
              <a:t>→  Internal, always — a leak costs more than a click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3484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Does an import update or only insert?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4453127"/>
            <a:ext cx="50593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C7D2FE"/>
                </a:solidFill>
                <a:latin typeface="Calibri"/>
              </a:rPr>
              <a:t>→  Upsert on client code, with the dry run showing what changes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983479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Does escalated Critical revert after closure?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5001767"/>
            <a:ext cx="50593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C7D2FE"/>
                </a:solidFill>
                <a:latin typeface="Calibri"/>
              </a:rPr>
              <a:t>→  Keep original_level and report both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532119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Is effort self-reported or timer-based?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5550407"/>
            <a:ext cx="50593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C7D2FE"/>
                </a:solidFill>
                <a:latin typeface="Calibri"/>
              </a:rPr>
              <a:t>→  Self-reported with optional timer — timers get forgotten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626364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818CF8"/>
                </a:solidFill>
                <a:latin typeface="Calibri"/>
              </a:rPr>
              <a:t>Full list in blueprint §16 · build sequencing in PLAN.md · stream assignment in TEAM-PLAN.md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