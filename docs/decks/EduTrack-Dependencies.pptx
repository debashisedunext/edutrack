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1E1B4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A5B4FC"/>
                </a:solidFill>
                <a:latin typeface="Calibri"/>
              </a:rPr>
              <a:t>EDUTRACK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1091153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Ownership &amp;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Dependency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931920"/>
            <a:ext cx="1371600" cy="41148"/>
          </a:xfrm>
          <a:prstGeom prst="rect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24528"/>
            <a:ext cx="99971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0">
                <a:solidFill>
                  <a:srgbClr val="C7D2FE"/>
                </a:solidFill>
                <a:latin typeface="Calibri"/>
              </a:rPr>
              <a:t>Who does what  ·  what blocks what  ·  what runs at the same time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0">
                <a:solidFill>
                  <a:srgbClr val="C7D2FE"/>
                </a:solidFill>
                <a:latin typeface="Calibri"/>
              </a:rPr>
              <a:t>4 developers · 17 cross-stream dependencies · 18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818CF8"/>
                </a:solidFill>
                <a:latin typeface="Consolas"/>
              </a:rPr>
              <a:t>docs/DEPENDENCIES.md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Four vertical streams, one owner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Each owns their slice from database to screen — not a backend/frontend split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2556433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2556433" cy="685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7393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4F46E5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58568"/>
            <a:ext cx="204436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Calibri"/>
              </a:rPr>
              <a:t>Platform &amp;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07208"/>
            <a:ext cx="204436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Shivendra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090672"/>
            <a:ext cx="204436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onsolas"/>
              </a:rPr>
              <a:t>A-001 … A-075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447288"/>
            <a:ext cx="204436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Schema · migrations · auth · scope guard · immutability core · CI · dashboard · reports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5113" y="1481328"/>
            <a:ext cx="2556433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5113" y="1481328"/>
            <a:ext cx="2556433" cy="685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1145" y="177393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06B6D4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1145" y="2258568"/>
            <a:ext cx="204436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Calibri"/>
              </a:rPr>
              <a:t>Masters &amp; Clients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1145" y="2807208"/>
            <a:ext cx="204436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Ayush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1145" y="3090672"/>
            <a:ext cx="204436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onsolas"/>
              </a:rPr>
              <a:t>B-001 … B-063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1145" y="3447288"/>
            <a:ext cx="204436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Master screens · client master · Excel import · working calendar · workflow designer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0147" y="1481328"/>
            <a:ext cx="2556433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0147" y="1481328"/>
            <a:ext cx="2556433" cy="685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6179" y="177393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8B5CF6"/>
                </a:solidFill>
                <a:latin typeface="Calibri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6179" y="2258568"/>
            <a:ext cx="204436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Calibri"/>
              </a:rPr>
              <a:t>Tickets &amp; Ribbon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6179" y="2807208"/>
            <a:ext cx="204436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8B5CF6"/>
                </a:solidFill>
                <a:latin typeface="Calibri"/>
              </a:rPr>
              <a:t>Divyansh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6179" y="3090672"/>
            <a:ext cx="204436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onsolas"/>
              </a:rPr>
              <a:t>C-001 … C-064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6179" y="3447288"/>
            <a:ext cx="204436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Ticket CRUD · cycles · comments · attachments · the Workflow Ribbon · Journey grid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95181" y="1481328"/>
            <a:ext cx="2556433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95181" y="1481328"/>
            <a:ext cx="2556433" cy="685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51213" y="177393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14B8A6"/>
                </a:solidFill>
                <a:latin typeface="Calibri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1213" y="2258568"/>
            <a:ext cx="204436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Calibri"/>
              </a:rPr>
              <a:t>Engines &amp; Realtime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1213" y="2807208"/>
            <a:ext cx="204436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Debashis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1213" y="3090672"/>
            <a:ext cx="204436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onsolas"/>
              </a:rPr>
              <a:t>D-001 … D-059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1213" y="3447288"/>
            <a:ext cx="204436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OpenAPI contract · SLA scanners · mail engine · notifications · WebSocket · chat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910328"/>
            <a:ext cx="10911535" cy="6858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19" y="5047488"/>
            <a:ext cx="10271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4F46E5"/>
                </a:solidFill>
                <a:latin typeface="Calibri"/>
              </a:rPr>
              <a:t>Only 17 dependencies cross a stream boundary. Everything else is internal to one developer — which is the entire point of splitting the work this way.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Ownership &amp; Dependencies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Four dates decide whether this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Everything else can slip a few days. These cannot — they are what makes four people work in parallel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5840"/>
                <a:gridCol w="914400"/>
                <a:gridCol w="2834640"/>
                <a:gridCol w="1737360"/>
                <a:gridCol w="4416552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Due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If it is late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EF4444"/>
                          </a:solidFill>
                          <a:latin typeface="Calibri"/>
                        </a:rPr>
                        <a:t>Day 5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4B8A6"/>
                          </a:solidFill>
                          <a:latin typeface="Calibri"/>
                        </a:rPr>
                        <a:t>D-004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MSW mock server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Debashis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Calibri"/>
                        </a:rPr>
                        <a:t>Divyansh's entire frontend stalls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EF4444"/>
                          </a:solidFill>
                          <a:latin typeface="Calibri"/>
                        </a:rPr>
                        <a:t>Day 10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4F46E5"/>
                          </a:solidFill>
                          <a:latin typeface="Calibri"/>
                        </a:rPr>
                        <a:t>A-012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dev-noauth profile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Shivendra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Calibri"/>
                        </a:rPr>
                        <a:t>All three others stop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EF4444"/>
                          </a:solidFill>
                          <a:latin typeface="Calibri"/>
                        </a:rPr>
                        <a:t>Day 10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06B6D4"/>
                          </a:solidFill>
                          <a:latin typeface="Calibri"/>
                        </a:rPr>
                        <a:t>B-007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Ticket fixture corpus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Ayush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Calibri"/>
                        </a:rPr>
                        <a:t>No data to test ribbon or SLA against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59E0B"/>
                          </a:solidFill>
                          <a:latin typeface="Calibri"/>
                        </a:rPr>
                        <a:t>Week 3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06B6D4"/>
                          </a:solidFill>
                          <a:latin typeface="Calibri"/>
                        </a:rPr>
                        <a:t>B-024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Working-hours service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Ayush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Calibri"/>
                        </a:rPr>
                        <a:t>Debashis cannot start the SLA engine at all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407408"/>
            <a:ext cx="10911535" cy="118872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4590288"/>
            <a:ext cx="10271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A5B4FC"/>
                </a:solidFill>
                <a:latin typeface="Calibri"/>
              </a:rPr>
              <a:t>WHY THESE FOUR AND NOT OTHERS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4937760"/>
            <a:ext cx="1027145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Each one unblocks somebody else rather than advancing its own stream. They are the decouplers — mocks let the frontend run ahead of the API, dev-noauth lets three people work before the security spine lands, and fixtures let two people test against data that does not exist yet.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Ownership &amp; Dependencies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The 17 cross-stream dependencies ·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Every edge where one developer waits on another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1600200"/>
                <a:gridCol w="2514600"/>
                <a:gridCol w="4937760"/>
                <a:gridCol w="1399032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Blocker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Who waits on it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Needed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A-002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docker-compose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all three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Day 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A-003…A-009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Baseline schema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Ayush — seeds &amp; entities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Day 3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A-012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dev-noauth profile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all three — any authenticated endpoint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Day 10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A-034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ScopeResolver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Debashis — socket authorisation mirrors it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Week 7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A-040…A-042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Append-only + hash chain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Divyansh — transitions write to those tables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59E0B"/>
                          </a:solidFill>
                          <a:latin typeface="Calibri"/>
                        </a:rPr>
                        <a:t>Week 9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6B6D4"/>
                          </a:solidFill>
                          <a:latin typeface="Calibri"/>
                        </a:rPr>
                        <a:t>B-001…B-004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Seed data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all three — realistic local data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Day 7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6B6D4"/>
                          </a:solidFill>
                          <a:latin typeface="Calibri"/>
                        </a:rPr>
                        <a:t>B-007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Fixture corpus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Divyansh + Debashis — ribbon &amp; SLA testing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Day 10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6B6D4"/>
                          </a:solidFill>
                          <a:latin typeface="Calibri"/>
                        </a:rPr>
                        <a:t>B-021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Priority master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Divyansh — priority dropdown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Week 5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6B6D4"/>
                          </a:solidFill>
                          <a:latin typeface="Calibri"/>
                        </a:rPr>
                        <a:t>B-022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Notification templates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Debashis — mail engine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Week 8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Ownership &amp; Dependencies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The 17 cross-stream dependencies · 2 of 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70432"/>
          <a:ext cx="10908792" cy="36027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1600200"/>
                <a:gridCol w="2514600"/>
                <a:gridCol w="4937760"/>
                <a:gridCol w="1399032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Blocker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Who waits on it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Needed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6B6D4"/>
                          </a:solidFill>
                          <a:latin typeface="Calibri"/>
                        </a:rPr>
                        <a:t>B-024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Working-hours service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Debashis — every SLA calculation · Divyansh — stage durations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Week 3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6B6D4"/>
                          </a:solidFill>
                          <a:latin typeface="Calibri"/>
                        </a:rPr>
                        <a:t>B-039…B-043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Workflow templates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Divyansh — transitions need stage definitions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59E0B"/>
                          </a:solidFill>
                          <a:latin typeface="Calibri"/>
                        </a:rPr>
                        <a:t>Week 9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6B6D4"/>
                          </a:solidFill>
                          <a:latin typeface="Calibri"/>
                        </a:rPr>
                        <a:t>B-025…B-029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Client master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Divyansh — client dropdown · Shivendra — client widget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Week 7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5CF6"/>
                          </a:solidFill>
                          <a:latin typeface="Calibri"/>
                        </a:rPr>
                        <a:t>C-042…C-049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Transition service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Shivendra — ribbon widgets · Debashis — live push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Week 11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5CF6"/>
                          </a:solidFill>
                          <a:latin typeface="Calibri"/>
                        </a:rPr>
                        <a:t>C-003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Component library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all three — every screen in every stream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Day 7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4B8A6"/>
                          </a:solidFill>
                          <a:latin typeface="Calibri"/>
                        </a:rPr>
                        <a:t>D-001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OpenAPI contract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all three — all API work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Week 1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4B8A6"/>
                          </a:solidFill>
                          <a:latin typeface="Calibri"/>
                        </a:rPr>
                        <a:t>D-004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MSW mock server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Divyansh — the entire frontend before APIs exist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Day 5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4B8A6"/>
                          </a:solidFill>
                          <a:latin typeface="Calibri"/>
                        </a:rPr>
                        <a:t>D-012…D-014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STOMP infrastructure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Divyansh — live ribbon advance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Week 10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873752"/>
            <a:ext cx="10911535" cy="566928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4992624"/>
            <a:ext cx="10271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4F46E5"/>
                </a:solidFill>
                <a:latin typeface="Calibri"/>
              </a:rPr>
              <a:t>Shivendra is upstream of everyone and blocked by nobody. Ayush carries four of the seventeen edges — more than anyone else.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Ownership &amp; 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The critical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Eight links. Delay anywhere on this chain delays go-live one-for-one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1481328"/>
            <a:ext cx="1206207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481328"/>
            <a:ext cx="1206207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00784"/>
            <a:ext cx="95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F46E5"/>
                </a:solidFill>
                <a:latin typeface="Consolas"/>
              </a:rPr>
              <a:t>A-003…A-009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011680"/>
            <a:ext cx="9501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3054096"/>
            <a:ext cx="95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wk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3291840"/>
            <a:ext cx="95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F46E5"/>
                </a:solidFill>
                <a:latin typeface="Calibri"/>
              </a:rPr>
              <a:t>Shivendra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64575" y="2617012"/>
            <a:ext cx="82296" cy="14630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1946871" y="2574036"/>
            <a:ext cx="82296" cy="100584"/>
          </a:xfrm>
          <a:prstGeom prst="triangl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29167" y="1481328"/>
            <a:ext cx="1206207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29167" y="1481328"/>
            <a:ext cx="1206207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57183" y="1700784"/>
            <a:ext cx="95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F46E5"/>
                </a:solidFill>
                <a:latin typeface="Consolas"/>
              </a:rPr>
              <a:t>A-008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57183" y="2011680"/>
            <a:ext cx="9501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Immutability triggers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7183" y="3054096"/>
            <a:ext cx="95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wk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57183" y="3291840"/>
            <a:ext cx="95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F46E5"/>
                </a:solidFill>
                <a:latin typeface="Calibri"/>
              </a:rPr>
              <a:t>Shivendra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7087" y="2617012"/>
            <a:ext cx="82296" cy="14630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5400000">
            <a:off x="3299383" y="2574036"/>
            <a:ext cx="82296" cy="100584"/>
          </a:xfrm>
          <a:prstGeom prst="triangl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81679" y="1481328"/>
            <a:ext cx="1206207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81679" y="1481328"/>
            <a:ext cx="1206207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700784"/>
            <a:ext cx="95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F46E5"/>
                </a:solidFill>
                <a:latin typeface="Consolas"/>
              </a:rPr>
              <a:t>A-040…A-042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011680"/>
            <a:ext cx="9501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Append-only + hash chain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9695" y="3054096"/>
            <a:ext cx="95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wk 8–9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9695" y="3291840"/>
            <a:ext cx="95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F46E5"/>
                </a:solidFill>
                <a:latin typeface="Calibri"/>
              </a:rPr>
              <a:t>Shivendra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69599" y="2617012"/>
            <a:ext cx="82295" cy="14630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4651895" y="2574036"/>
            <a:ext cx="82296" cy="100584"/>
          </a:xfrm>
          <a:prstGeom prst="triangl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734191" y="1481328"/>
            <a:ext cx="1206207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34191" y="1481328"/>
            <a:ext cx="1206207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62207" y="1700784"/>
            <a:ext cx="95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B5CF6"/>
                </a:solidFill>
                <a:latin typeface="Consolas"/>
              </a:rPr>
              <a:t>C-042…C-049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2207" y="2011680"/>
            <a:ext cx="9501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Transition 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62207" y="3054096"/>
            <a:ext cx="95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wk 10–11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2207" y="3291840"/>
            <a:ext cx="95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B5CF6"/>
                </a:solidFill>
                <a:latin typeface="Calibri"/>
              </a:rPr>
              <a:t>Divyansh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22111" y="2617012"/>
            <a:ext cx="82295" cy="14630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 rot="5400000">
            <a:off x="6004407" y="2574036"/>
            <a:ext cx="82296" cy="100584"/>
          </a:xfrm>
          <a:prstGeom prst="triangl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086703" y="1481328"/>
            <a:ext cx="1206207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86703" y="1481328"/>
            <a:ext cx="1206207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4719" y="1700784"/>
            <a:ext cx="95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B5CF6"/>
                </a:solidFill>
                <a:latin typeface="Consolas"/>
              </a:rPr>
              <a:t>C-055…C-058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4719" y="2011680"/>
            <a:ext cx="9501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Journey roll-up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4719" y="3054096"/>
            <a:ext cx="95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wk 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4719" y="3291840"/>
            <a:ext cx="95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B5CF6"/>
                </a:solidFill>
                <a:latin typeface="Calibri"/>
              </a:rPr>
              <a:t>Divyansh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74623" y="2617012"/>
            <a:ext cx="82295" cy="14630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 rot="5400000">
            <a:off x="7356919" y="2574036"/>
            <a:ext cx="82296" cy="100584"/>
          </a:xfrm>
          <a:prstGeom prst="triangl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439215" y="1481328"/>
            <a:ext cx="1206207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439215" y="1481328"/>
            <a:ext cx="1206207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67231" y="1700784"/>
            <a:ext cx="95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F46E5"/>
                </a:solidFill>
                <a:latin typeface="Consolas"/>
              </a:rPr>
              <a:t>A-058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67231" y="2011680"/>
            <a:ext cx="9501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Ribbon dashboard widgets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67231" y="3054096"/>
            <a:ext cx="95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wk 12–14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67231" y="3291840"/>
            <a:ext cx="95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F46E5"/>
                </a:solidFill>
                <a:latin typeface="Calibri"/>
              </a:rPr>
              <a:t>Shivendra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27135" y="2617012"/>
            <a:ext cx="82295" cy="14630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 rot="5400000">
            <a:off x="8709431" y="2574036"/>
            <a:ext cx="82296" cy="100584"/>
          </a:xfrm>
          <a:prstGeom prst="triangl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791727" y="1481328"/>
            <a:ext cx="1206207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791727" y="1481328"/>
            <a:ext cx="1206207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19743" y="1700784"/>
            <a:ext cx="95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B5CF6"/>
                </a:solidFill>
                <a:latin typeface="Consolas"/>
              </a:rPr>
              <a:t>E2E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19743" y="2011680"/>
            <a:ext cx="9501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Walkthrough A end to end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19743" y="3054096"/>
            <a:ext cx="95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wk 15–16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19743" y="3291840"/>
            <a:ext cx="95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B5CF6"/>
                </a:solidFill>
                <a:latin typeface="Calibri"/>
              </a:rPr>
              <a:t>Divyansh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979647" y="2617012"/>
            <a:ext cx="82295" cy="14630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Isosceles Triangle 60"/>
          <p:cNvSpPr/>
          <p:nvPr/>
        </p:nvSpPr>
        <p:spPr>
          <a:xfrm rot="5400000">
            <a:off x="10061943" y="2574036"/>
            <a:ext cx="82296" cy="100584"/>
          </a:xfrm>
          <a:prstGeom prst="triangl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0144239" y="1481328"/>
            <a:ext cx="1206207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144239" y="1481328"/>
            <a:ext cx="1206207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272255" y="1700784"/>
            <a:ext cx="950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F46E5"/>
                </a:solidFill>
                <a:latin typeface="Consolas"/>
              </a:rPr>
              <a:t>Go-live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72255" y="2011680"/>
            <a:ext cx="9501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Hardening, UAT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72255" y="3054096"/>
            <a:ext cx="95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wk 17–18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72255" y="3291840"/>
            <a:ext cx="950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F46E5"/>
                </a:solidFill>
                <a:latin typeface="Calibri"/>
              </a:rPr>
              <a:t>all four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" y="3995928"/>
            <a:ext cx="5349240" cy="146304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417880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92400E"/>
                </a:solidFill>
                <a:latin typeface="Calibri"/>
              </a:rPr>
              <a:t>THE MOST FRAGILE HANDOFF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2688" y="4517136"/>
            <a:ext cx="4800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92400E"/>
                </a:solidFill>
                <a:latin typeface="Calibri"/>
              </a:rPr>
              <a:t>A-042 → C-042, week 9. Divyansh cannot start the transition service until the hash chain is finished and proven, because his service writes into those append-only tables.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63640" y="3995928"/>
            <a:ext cx="5287975" cy="146304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56248" y="4178808"/>
            <a:ext cx="4739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065F46"/>
                </a:solidFill>
                <a:latin typeface="Calibri"/>
              </a:rPr>
              <a:t>OFF THE CRITICAL PATH — HAS SLACK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56248" y="4517136"/>
            <a:ext cx="47393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065F46"/>
                </a:solidFill>
                <a:latin typeface="Calibri"/>
              </a:rPr>
              <a:t>Client master · Excel import · reports · chat · notification centre · browser push.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065F46"/>
                </a:solidFill>
                <a:latin typeface="Calibri"/>
              </a:rPr>
              <a:t>These can absorb delay without moving go-live.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Ownership &amp; Dependencies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18 weeks, four lanes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Bars are work. Arrows are the moments one developer hands something to another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39" y="14813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71952" y="14813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52265" y="14813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2578" y="14813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2891" y="14813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3203" y="14813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3516" y="14813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829" y="14813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4142" y="148132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4813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6B7280"/>
                </a:solidFill>
                <a:latin typeface="Calibri"/>
              </a:rPr>
              <a:t>WEEK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874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A · Shivendra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1639" y="1773936"/>
            <a:ext cx="9722815" cy="475488"/>
          </a:xfrm>
          <a:prstGeom prst="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709928" y="1819656"/>
            <a:ext cx="1043736" cy="384048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01367" y="1920240"/>
            <a:ext cx="860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schema · triggers · CI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90240" y="1819656"/>
            <a:ext cx="2664206" cy="384048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1680" y="1920240"/>
            <a:ext cx="248132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auth · scope guard · matrix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91022" y="1819656"/>
            <a:ext cx="1043736" cy="384048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82462" y="1920240"/>
            <a:ext cx="860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immutability 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1335" y="1819656"/>
            <a:ext cx="3744518" cy="384048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62775" y="1920240"/>
            <a:ext cx="35616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dashboard · reports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52430" y="1819656"/>
            <a:ext cx="1043736" cy="384048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43870" y="1920240"/>
            <a:ext cx="860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hardening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262432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06B6D4"/>
                </a:solidFill>
                <a:latin typeface="Calibri"/>
              </a:rPr>
              <a:t>B · Ayush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91639" y="2523744"/>
            <a:ext cx="9722815" cy="475488"/>
          </a:xfrm>
          <a:prstGeom prst="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709928" y="2569464"/>
            <a:ext cx="1043736" cy="384048"/>
          </a:xfrm>
          <a:prstGeom prst="roundRect">
            <a:avLst>
              <a:gd name="adj" fmla="val 22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01367" y="2670048"/>
            <a:ext cx="860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seeds · entities · fixtures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90240" y="2569464"/>
            <a:ext cx="3744518" cy="384048"/>
          </a:xfrm>
          <a:prstGeom prst="roundRect">
            <a:avLst>
              <a:gd name="adj" fmla="val 22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1680" y="2670048"/>
            <a:ext cx="35616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masters · clients · import · workflow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71335" y="2569464"/>
            <a:ext cx="1043736" cy="384048"/>
          </a:xfrm>
          <a:prstGeom prst="roundRect">
            <a:avLst>
              <a:gd name="adj" fmla="val 22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62775" y="2670048"/>
            <a:ext cx="860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ribbon UI with 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51648" y="2569464"/>
            <a:ext cx="2664205" cy="384048"/>
          </a:xfrm>
          <a:prstGeom prst="roundRect">
            <a:avLst>
              <a:gd name="adj" fmla="val 22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43088" y="2670048"/>
            <a:ext cx="248132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reports · Resource 360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52430" y="2569464"/>
            <a:ext cx="1043736" cy="384048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43870" y="2670048"/>
            <a:ext cx="860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UAT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37413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8B5CF6"/>
                </a:solidFill>
                <a:latin typeface="Calibri"/>
              </a:rPr>
              <a:t>C · Divyansh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91639" y="3273552"/>
            <a:ext cx="9722815" cy="475488"/>
          </a:xfrm>
          <a:prstGeom prst="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709928" y="3319272"/>
            <a:ext cx="1043736" cy="384048"/>
          </a:xfrm>
          <a:prstGeom prst="roundRect">
            <a:avLst>
              <a:gd name="adj" fmla="val 22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01367" y="3419856"/>
            <a:ext cx="860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design system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90240" y="3319272"/>
            <a:ext cx="3744518" cy="384048"/>
          </a:xfrm>
          <a:prstGeom prst="roundRect">
            <a:avLst>
              <a:gd name="adj" fmla="val 22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81680" y="3419856"/>
            <a:ext cx="35616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create · list · detail · comments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71335" y="3319272"/>
            <a:ext cx="1043736" cy="384048"/>
          </a:xfrm>
          <a:prstGeom prst="roundRect">
            <a:avLst>
              <a:gd name="adj" fmla="val 22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62775" y="3419856"/>
            <a:ext cx="860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transitions · ribbon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51648" y="3319272"/>
            <a:ext cx="1583893" cy="384048"/>
          </a:xfrm>
          <a:prstGeom prst="roundRect">
            <a:avLst>
              <a:gd name="adj" fmla="val 22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43088" y="3419856"/>
            <a:ext cx="140101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journey · stage queue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272117" y="3319272"/>
            <a:ext cx="1043736" cy="384048"/>
          </a:xfrm>
          <a:prstGeom prst="roundRect">
            <a:avLst>
              <a:gd name="adj" fmla="val 22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63557" y="3419856"/>
            <a:ext cx="860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E2E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352430" y="3319272"/>
            <a:ext cx="1043736" cy="384048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3870" y="3419856"/>
            <a:ext cx="860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UAT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41239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4B8A6"/>
                </a:solidFill>
                <a:latin typeface="Calibri"/>
              </a:rPr>
              <a:t>D · Debashis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91639" y="4023360"/>
            <a:ext cx="9722815" cy="475488"/>
          </a:xfrm>
          <a:prstGeom prst="rect">
            <a:avLst/>
          </a:prstGeom>
          <a:solidFill>
            <a:srgbClr val="F1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709928" y="4069080"/>
            <a:ext cx="1043736" cy="384048"/>
          </a:xfrm>
          <a:prstGeom prst="roundRect">
            <a:avLst>
              <a:gd name="adj" fmla="val 22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01367" y="4169664"/>
            <a:ext cx="860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contract · mocks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90240" y="4069080"/>
            <a:ext cx="1583893" cy="384048"/>
          </a:xfrm>
          <a:prstGeom prst="roundRect">
            <a:avLst>
              <a:gd name="adj" fmla="val 22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81680" y="4169664"/>
            <a:ext cx="140101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outbox · STOMP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410709" y="4069080"/>
            <a:ext cx="3204362" cy="384048"/>
          </a:xfrm>
          <a:prstGeom prst="roundRect">
            <a:avLst>
              <a:gd name="adj" fmla="val 22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02150" y="4169664"/>
            <a:ext cx="302148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SLA · escalation · mail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651648" y="4069080"/>
            <a:ext cx="2664205" cy="384048"/>
          </a:xfrm>
          <a:prstGeom prst="roundRect">
            <a:avLst>
              <a:gd name="adj" fmla="val 22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43088" y="4169664"/>
            <a:ext cx="248132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chat · live ribbon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352430" y="4069080"/>
            <a:ext cx="1043736" cy="384048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443870" y="4169664"/>
            <a:ext cx="860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UAT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64637" y="2249424"/>
            <a:ext cx="14630" cy="192024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Isosceles Triangle 66"/>
          <p:cNvSpPr/>
          <p:nvPr/>
        </p:nvSpPr>
        <p:spPr>
          <a:xfrm rot="10800000">
            <a:off x="2721660" y="2441448"/>
            <a:ext cx="100584" cy="82296"/>
          </a:xfrm>
          <a:prstGeom prst="triangl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304793" y="3749039"/>
            <a:ext cx="14630" cy="192024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Isosceles Triangle 68"/>
          <p:cNvSpPr/>
          <p:nvPr/>
        </p:nvSpPr>
        <p:spPr>
          <a:xfrm rot="10800000">
            <a:off x="3261817" y="3941064"/>
            <a:ext cx="100584" cy="82296"/>
          </a:xfrm>
          <a:prstGeom prst="triangl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45732" y="2249424"/>
            <a:ext cx="14630" cy="94183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Isosceles Triangle 70"/>
          <p:cNvSpPr/>
          <p:nvPr/>
        </p:nvSpPr>
        <p:spPr>
          <a:xfrm rot="10800000">
            <a:off x="6502755" y="3191256"/>
            <a:ext cx="100584" cy="82296"/>
          </a:xfrm>
          <a:prstGeom prst="triangl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869826" y="2999232"/>
            <a:ext cx="14630" cy="19202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Isosceles Triangle 72"/>
          <p:cNvSpPr/>
          <p:nvPr/>
        </p:nvSpPr>
        <p:spPr>
          <a:xfrm rot="10800000">
            <a:off x="6826849" y="3191256"/>
            <a:ext cx="100584" cy="82296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626045" y="3749039"/>
            <a:ext cx="14630" cy="192024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Isosceles Triangle 74"/>
          <p:cNvSpPr/>
          <p:nvPr/>
        </p:nvSpPr>
        <p:spPr>
          <a:xfrm rot="10800000">
            <a:off x="7583068" y="3941064"/>
            <a:ext cx="100584" cy="82296"/>
          </a:xfrm>
          <a:prstGeom prst="triangl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080" y="4882896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Red and amber arrows at week 10 are the convergence: the transition service needs Shivendra's hash chain AND Ayush's stage definitions before it can start.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0080" y="5623560"/>
            <a:ext cx="10911535" cy="566928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0119" y="5742432"/>
            <a:ext cx="10271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4F46E5"/>
                </a:solidFill>
                <a:latin typeface="Calibri"/>
              </a:rPr>
              <a:t>Weeks 3–7 and 12–16 are fully parallel — nobody blocks anybody. Weeks 1–2 and 8–11 carry every handoff.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Ownership &amp; Dependencies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Week 9 — the one convergence to protect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Two upstream owners, one downstream task, sitting on the critical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1618488"/>
            <a:ext cx="36576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0" y="1618488"/>
            <a:ext cx="3657600" cy="64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39" y="186537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4F46E5"/>
                </a:solidFill>
                <a:latin typeface="Consolas"/>
              </a:rPr>
              <a:t>A-040 … A-042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39" y="216712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Append-only services + per-ticket hash chain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Shivendra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618488"/>
            <a:ext cx="36576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0" y="1618488"/>
            <a:ext cx="3657600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86537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06B6D4"/>
                </a:solidFill>
                <a:latin typeface="Consolas"/>
              </a:rPr>
              <a:t>B-039 … B-043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16712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Workflow templates + stage definitions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Ayush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67404" y="2898648"/>
            <a:ext cx="14630" cy="6492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10800000">
            <a:off x="3424427" y="3547872"/>
            <a:ext cx="100584" cy="82296"/>
          </a:xfrm>
          <a:prstGeom prst="triangl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0924" y="2898648"/>
            <a:ext cx="14630" cy="64922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10800000">
            <a:off x="8727948" y="3547872"/>
            <a:ext cx="100584" cy="82296"/>
          </a:xfrm>
          <a:prstGeom prst="triangl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83280" y="3675887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390448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4F46E5"/>
                </a:solidFill>
                <a:latin typeface="Consolas"/>
              </a:rPr>
              <a:t>C-042 … C-049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20624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4F46E5"/>
                </a:solidFill>
                <a:latin typeface="Calibri"/>
              </a:rPr>
              <a:t>Transition service — the Workflow Ribbon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4F46E5"/>
                </a:solidFill>
                <a:latin typeface="Calibri"/>
              </a:rPr>
              <a:t>Divyansh · week 10–11 · ON THE CRITICAL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138928"/>
            <a:ext cx="10911535" cy="105156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19" y="5303520"/>
            <a:ext cx="10271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92400E"/>
                </a:solidFill>
                <a:latin typeface="Calibri"/>
              </a:rPr>
              <a:t>IF EITHER IS 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19" y="5614416"/>
            <a:ext cx="10271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92400E"/>
                </a:solidFill>
                <a:latin typeface="Calibri"/>
              </a:rPr>
              <a:t>Give Divyansh C-059…C-064 — History and Attachments tabs, stage queue, bulk reassignment, ticket links. They depend on nothing and keep him productive while the blockers clear.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Ownership &amp; Dependencies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If you are blocked, do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Nobody should ever idle — every stream has independent fallback work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3712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2651760"/>
                <a:gridCol w="6702552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Blocked on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Pick up instead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4F46E5"/>
                          </a:solidFill>
                          <a:latin typeface="Calibri"/>
                        </a:rPr>
                        <a:t>Shivendra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6B7280"/>
                          </a:solidFill>
                          <a:latin typeface="Calibri"/>
                        </a:rPr>
                        <a:t>— nothing blocks him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6B7280"/>
                          </a:solidFill>
                          <a:latin typeface="Calibri"/>
                        </a:rPr>
                        <a:t>He is upstream of everyone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06B6D4"/>
                          </a:solidFill>
                          <a:latin typeface="Calibri"/>
                        </a:rPr>
                        <a:t>Ayush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A's schema, days 1–2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Design the seed content — permission matrix, 11 task types, 4 priorities, 3 workflow templates. It comes from the blueprint, not the schema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06B6D4"/>
                          </a:solidFill>
                          <a:latin typeface="Calibri"/>
                        </a:rPr>
                        <a:t>Ayush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A's schema, later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B-030…B-038 Excel import engine — pure POI work, touches no EduTrack table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8B5CF6"/>
                          </a:solidFill>
                          <a:latin typeface="Calibri"/>
                        </a:rPr>
                        <a:t>Divyansh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D's mocks, days 1–4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C-002…C-004 design tokens, component library, Storybook — no data needed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8B5CF6"/>
                          </a:solidFill>
                          <a:latin typeface="Calibri"/>
                        </a:rPr>
                        <a:t>Divyansh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A-042 or B-043, week 9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C-059…C-064 tabs, stage queue, bulk reassign, ticket links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4B8A6"/>
                          </a:solidFill>
                          <a:latin typeface="Calibri"/>
                        </a:rPr>
                        <a:t>Debashis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B-024 working-hours, week 3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D-010…D-015 outbox, ShedLock, STOMP, channel interceptor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4B8A6"/>
                          </a:solidFill>
                          <a:latin typeface="Calibri"/>
                        </a:rPr>
                        <a:t>Debashis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C's transitions, week 11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D-040…D-046 notification centre, preference matrix, offline queue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Ownership &amp; Dependencies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Three habits that prevent imaginary blockers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Each of these has stalled real teams on this exact shape of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10911535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9344"/>
            <a:ext cx="54864" cy="9509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719072"/>
            <a:ext cx="102714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4B8A6"/>
                </a:solidFill>
                <a:latin typeface="Calibri"/>
              </a:rPr>
              <a:t>Never wait for an API — use the mocks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139696"/>
            <a:ext cx="10271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D-004 exists so the full ticket detail page, ribbon included, can be built before a single ticket endpoint is written. When the real endpoint lands, the only change is a flag.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16352"/>
            <a:ext cx="10911535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944368"/>
            <a:ext cx="54864" cy="9509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054096"/>
            <a:ext cx="102714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Never wait for auth — use dev-noauth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474720"/>
            <a:ext cx="10271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And never write your own filtering as a workaround. That is how a temporary shortcut becomes a permanent security hole — the top risk in blueprint §17.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51376"/>
            <a:ext cx="10911535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279392"/>
            <a:ext cx="54864" cy="95097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4389120"/>
            <a:ext cx="102714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Never write your own date maths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4809744"/>
            <a:ext cx="10271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Every SLA, duration, breach and utilisation figure routes through B-024. Four private implementations of "working hours" produce four different answers, and the disagreement surfaces in a client dispute.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Ownership &amp; Dependencies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1E1B4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How to use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72768"/>
            <a:ext cx="1188720" cy="36576"/>
          </a:xfrm>
          <a:prstGeom prst="rect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A5B4FC"/>
                </a:solidFill>
                <a:latin typeface="Calibri"/>
              </a:rPr>
              <a:t>Daily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984248"/>
            <a:ext cx="72539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Check whether anything you own appears in the 17-edge register. If it does, somebody is waiting on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0720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A5B4FC"/>
                </a:solidFill>
                <a:latin typeface="Calibri"/>
              </a:rPr>
              <a:t>When blocked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825496"/>
            <a:ext cx="72539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Go to the fallback table. There is always independent work — idling is never the right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4845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A5B4FC"/>
                </a:solidFill>
                <a:latin typeface="Calibri"/>
              </a:rPr>
              <a:t>At milestone boundaries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666744"/>
            <a:ext cx="72539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Review the register when develop is promoted to main. Tasks move between streams; the map must move with them.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970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A5B4FC"/>
                </a:solidFill>
                <a:latin typeface="Calibri"/>
              </a:rPr>
              <a:t>When adding a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4507992"/>
            <a:ext cx="72539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If it crosses a stream boundary, add it to §2 in the same pull request.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486400"/>
            <a:ext cx="10362895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5632704"/>
            <a:ext cx="98142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A dependency register that has drifted is worse than none — people trust it and are wrong.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35508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818CF8"/>
                </a:solidFill>
                <a:latin typeface="Calibri"/>
              </a:rPr>
              <a:t>docs/DEPENDENCIES.md  ·  docs/streams/STREAM-A…D.md  ·  docs/TEAM-PLAN.md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