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82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11827"/>
                </a:solidFill>
                <a:latin typeface="Calibri"/>
              </a:rPr>
              <a:t>Volume by task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Production bug</c:v>
                  </c:pt>
                  <c:pt idx="1">
                    <c:v>Client bug</c:v>
                  </c:pt>
                  <c:pt idx="2">
                    <c:v>Change request</c:v>
                  </c:pt>
                  <c:pt idx="3">
                    <c:v>Client request</c:v>
                  </c:pt>
                  <c:pt idx="4">
                    <c:v>Performance</c:v>
                  </c:pt>
                  <c:pt idx="5">
                    <c:v>Server issue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312</c:v>
                </c:pt>
                <c:pt idx="1">
                  <c:v>244</c:v>
                </c:pt>
                <c:pt idx="2">
                  <c:v>198</c:v>
                </c:pt>
                <c:pt idx="3">
                  <c:v>141</c:v>
                </c:pt>
                <c:pt idx="4">
                  <c:v>96</c:v>
                </c:pt>
                <c:pt idx="5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6B728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82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11827"/>
                </a:solidFill>
                <a:latin typeface="Calibri"/>
              </a:rPr>
              <a:t>Open work by ribbon stage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46E5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9CA3AF"/>
              </a:solidFill>
              <a:effectLst/>
            </c:spPr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Development</c:v>
                </c:pt>
                <c:pt idx="1">
                  <c:v>QA</c:v>
                </c:pt>
                <c:pt idx="2">
                  <c:v>Deployment</c:v>
                </c:pt>
                <c:pt idx="3">
                  <c:v>Sign-off</c:v>
                </c:pt>
                <c:pt idx="4">
                  <c:v>Triage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88</c:v>
                </c:pt>
                <c:pt idx="1">
                  <c:v>60</c:v>
                </c:pt>
                <c:pt idx="2">
                  <c:v>33</c:v>
                </c:pt>
                <c:pt idx="3">
                  <c:v>19</c:v>
                </c:pt>
                <c:pt idx="4">
                  <c:v>63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TaskDesk merges internal task management with client ticketing. This deck covers the workflow, the screens, the architecture and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cloning Jira. We are merging the two halves that every services organisation runs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pillars. The ribbon and the immutable history are the two that competitors do not give you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 and Deployment are new roles added for the ribbon flow. A handoff needs a receiving role that owns the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phases. Steps three and four are where the ribbon and the SLA engine do their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ribbon is the single feature that makes the whole journey traceable without opening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and loop-backs are configuration, not code. Templates differ per project and task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these two counters confused is the most common modelling mistake in home-grown ticketing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screen is traceable — every name, project and linked ticket is a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are the difference between a task tracker and something a support desk will actually live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stream is what makes the history usable in a client dispute.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silent bulk import that half-succeeds is worse than no import at all. The dry run is the whole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In-app popups only reach someone who is logged in. Mail is the channel that makes an assignment impossible to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card and every chart segment is clickable and deep-links to a pre-filtered ticket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clicks, no page reload. This is the screen a developer touches ten times a day, so it has to be the fastest thing in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Reopen seals the prior cycle. Effort from cycle one is never touched, only summed.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Escalation is a background worker on a partial index, so the scan cost is proportional to breaches, not to total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live PowerPoint charts, so the numbers can be edited in the deck during a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screen number maps one-to-one to a Figma frame and a Jira epic, so design, dev and QA reference the same identifier.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exotic. The only unusual piece is the append-only integrity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deliberately boring. Risk should live in the domain model, not the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row-scope guard is the single most important piece of code in the product. It gets its own automated test suite covering every role against every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reports in the hub. The stage-based ones only exist because of the ribbon.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trendy part is restraint — whitespace, hairlines and one accent colour, not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PM/BA, one architect, two backend, two frontend, one QA, half DevOps, half designer.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questions include: can a developer close a ticket, can QA be skipped, and does rework reset the planned close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decisions on these six. They shape the data model, so they are cheap now and expensive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288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TASKDESK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Task &amp;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Ticketing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product, architecture and UI blueprint  ·  v1.1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48920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 w="9525">
            <a:solidFill>
              <a:srgbClr val="4C46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892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screens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54096" y="48920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 w="9525">
            <a:solidFill>
              <a:srgbClr val="4C4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54096" y="4892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9824" y="48920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 w="9525">
            <a:solidFill>
              <a:srgbClr val="4C46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9824" y="4892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workflow ribbon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45552" y="48920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 w="9525">
            <a:solidFill>
              <a:srgbClr val="4C46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45552" y="4892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roadmap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systems, one product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organisations run project tracking and client support as separate tools. Work falls between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21408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61518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29718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Azure DevOps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364992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sprints and velocity. Knows nothing about a client raising a bug at 11pm.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21214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08576" y="261518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ticketing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29718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Desk, Freshdesk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8576" y="3364992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SLA and escalation. Cannot tell you which developer is overloaded.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01584" y="182880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EEF2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2121408"/>
            <a:ext cx="310896" cy="3108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75904" y="261518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TaskDesk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75904" y="297180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75904" y="3364992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ticket, one journey, one effort record — from client intake through deployment to closure.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products studied: Jira Software · Azure DevOps · Zoho Desk · Freshdesk · Zendesk · Linear · ClickUp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PILLARS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29584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71907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Cycle-based reopen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reopen opens a new cycle. Prior start dates, effort, assignees and close dates are sealed, never overwritten.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481328"/>
            <a:ext cx="3529584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173736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71907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history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2194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tables, hash-chained rows, no UPDATE route. A resource can change state, never history.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481328"/>
            <a:ext cx="3529584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173736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41664" y="171907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ribbon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7616" y="2194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Support → PM → Dev → QA → Deploy → Close journey, live, on every ticket.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694176"/>
            <a:ext cx="3529584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50208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393192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escalation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40740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planned close date, the ticket becomes Critical on its own and reaches the reporting manager.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4256" y="3694176"/>
            <a:ext cx="3529584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3950208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393192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on the ticket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0288" y="440740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status?" is a tracked event attached to the work item, not a message in another app.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01584" y="3694176"/>
            <a:ext cx="3529584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3950208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41664" y="393192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by resource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57616" y="440740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attributed to a named person at a named stage in a named iteration.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roles, two scopes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773936" cy="1828800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113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7004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Masters, resources, roles, audit. Sees everything.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463040"/>
            <a:ext cx="1773936" cy="1828800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70048" y="17007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223113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33472" y="267004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projects. Assigns, closes, reopens, skips stages.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1463040"/>
            <a:ext cx="1773936" cy="1828800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17007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223113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17136" y="267004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and sign-off. Own project queue.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1773936" cy="1828800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17007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23113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67004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tickets assigned to them. Cannot close.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1584" y="1463040"/>
            <a:ext cx="1773936" cy="1828800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17007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23113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84464" y="267004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queue. Passes or fails with a defect list.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85248" y="1463040"/>
            <a:ext cx="1773936" cy="1828800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04704" y="17007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8128" y="2231136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8128" y="267004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queue. Deploys and hands back to verify.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36118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scope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248" y="41330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role is permitted to do — create, assign, close, reopen, edit masters.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36208" y="36118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scope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10528" y="41330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rows they may see — injected server-side on every query, never by a front-end filter.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5230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guessing another ticket's ID gets 404, not 403 — the system never confirms that the ticket exists.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ticket moves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12648" y="1472184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52728" y="1435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72968" y="1453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Desk or client raises it. ID auto-generated, SLA sets the planned close date.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" y="1911096"/>
            <a:ext cx="18288" cy="310896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2276856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2728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72968" y="2258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validates, sets the level, assigns a developer. Assignee gets a popup within a second.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" y="2715768"/>
            <a:ext cx="18288" cy="310896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" y="3081528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52728" y="3044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72968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moves along the ribbon. Effort logged at each stage, attributed to that resource.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" y="3520440"/>
            <a:ext cx="18288" cy="310896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3886200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2728" y="3849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172968" y="3867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scans every 15 minutes. Breach promotes the ticket to Critical and alerts the manager.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" y="4325112"/>
            <a:ext cx="18288" cy="310896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" y="4690872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52728" y="4654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172968" y="46725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stage owner closes. Effort frozen, cycle sealed.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" y="5129784"/>
            <a:ext cx="18288" cy="310896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" y="549554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5495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52728" y="5458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172968" y="54772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cycle, fresh ribbon. Everything before it preserved and still viewable.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CENTREPIECE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ribbon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strip at the top of every ticket answers four questions at a glance.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1055096" cy="1572768"/>
          </a:xfrm>
          <a:prstGeom prst="roundRect">
            <a:avLst>
              <a:gd name="adj" fmla="val 3488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95144"/>
            <a:ext cx="1316736" cy="1280160"/>
          </a:xfrm>
          <a:prstGeom prst="roundRect">
            <a:avLst>
              <a:gd name="adj" fmla="val 5714"/>
            </a:avLst>
          </a:prstGeom>
          <a:solidFill>
            <a:srgbClr val="0D4738"/>
          </a:solidFill>
          <a:ln w="12700">
            <a:solidFill>
              <a:srgbClr val="156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048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6243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2916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31363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80260" y="2295144"/>
            <a:ext cx="1316736" cy="1280160"/>
          </a:xfrm>
          <a:prstGeom prst="roundRect">
            <a:avLst>
              <a:gd name="adj" fmla="val 5714"/>
            </a:avLst>
          </a:prstGeom>
          <a:solidFill>
            <a:srgbClr val="0D4738"/>
          </a:solidFill>
          <a:ln w="12700">
            <a:solidFill>
              <a:srgbClr val="156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0260" y="24048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80260" y="26243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80260" y="2916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0260" y="31363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47288" y="2295144"/>
            <a:ext cx="1316736" cy="1280160"/>
          </a:xfrm>
          <a:prstGeom prst="roundRect">
            <a:avLst>
              <a:gd name="adj" fmla="val 5714"/>
            </a:avLst>
          </a:prstGeom>
          <a:solidFill>
            <a:srgbClr val="5C3D0A"/>
          </a:solidFill>
          <a:ln w="12700">
            <a:solidFill>
              <a:srgbClr val="8A5A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4048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reworked x2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47288" y="26243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47288" y="2916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47288" y="31363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 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14316" y="2295144"/>
            <a:ext cx="1316736" cy="1280160"/>
          </a:xfrm>
          <a:prstGeom prst="roundRect">
            <a:avLst>
              <a:gd name="adj" fmla="val 5714"/>
            </a:avLst>
          </a:prstGeom>
          <a:solidFill>
            <a:srgbClr val="4F46E5"/>
          </a:solidFill>
          <a:ln w="25400">
            <a:solidFill>
              <a:srgbClr val="A5B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4316" y="24048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4316" y="26243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14316" y="2916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4316" y="31363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81344" y="2295144"/>
            <a:ext cx="1316736" cy="1280160"/>
          </a:xfrm>
          <a:prstGeom prst="roundRect">
            <a:avLst>
              <a:gd name="adj" fmla="val 5714"/>
            </a:avLst>
          </a:prstGeom>
          <a:solidFill>
            <a:srgbClr val="2E2870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24048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81344" y="26243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81344" y="2916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48372" y="2295144"/>
            <a:ext cx="1316736" cy="1280160"/>
          </a:xfrm>
          <a:prstGeom prst="roundRect">
            <a:avLst>
              <a:gd name="adj" fmla="val 5714"/>
            </a:avLst>
          </a:prstGeom>
          <a:solidFill>
            <a:srgbClr val="2E2870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8372" y="24048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8372" y="26243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48372" y="2916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15400" y="2295144"/>
            <a:ext cx="1316736" cy="1280160"/>
          </a:xfrm>
          <a:prstGeom prst="roundRect">
            <a:avLst>
              <a:gd name="adj" fmla="val 5714"/>
            </a:avLst>
          </a:prstGeom>
          <a:solidFill>
            <a:srgbClr val="2E2870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24048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15400" y="26243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15400" y="2916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282428" y="2295144"/>
            <a:ext cx="1316736" cy="1280160"/>
          </a:xfrm>
          <a:prstGeom prst="roundRect">
            <a:avLst>
              <a:gd name="adj" fmla="val 5714"/>
            </a:avLst>
          </a:prstGeom>
          <a:solidFill>
            <a:srgbClr val="2E2870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82428" y="240487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282428" y="26243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282428" y="2916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41148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now?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8096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with Anil — 6h 40m of an 8h stage SLA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374136" y="41148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75304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touched it?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75304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resources across four teams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81344" y="41148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bounces?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382512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2, iteration 2, one QA rework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988552" y="41148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89720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it cost?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89720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 hours total, attributed per person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stages, six loop-backs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508760"/>
                <a:gridCol w="2514600"/>
                <a:gridCol w="777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Intake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 validated, project tagged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Triage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set and developer assigned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ready for 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QA /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pass or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marked 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working in target 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Sign-off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/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by the requester 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371600"/>
            <a:ext cx="4206240" cy="3127248"/>
          </a:xfrm>
          <a:prstGeom prst="roundRect">
            <a:avLst>
              <a:gd name="adj" fmla="val 2632"/>
            </a:avLst>
          </a:prstGeom>
          <a:solidFill>
            <a:srgbClr val="FEF6E7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Loop-backs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80960" y="1901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increments the iteration counter and requires a written reason.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→ Development  ·  rework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→ Development  ·  deploy failed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8096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→ Development  ·  verify failed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→ Development  ·  rejected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809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→ Triage  ·  clarification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→ any  ·  PM override, logged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4828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current stage owner — plus PM and Admin — can move a ticket forward. A developer cannot push into Deployment while QA still holds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THAT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are not cycles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2606040"/>
          </a:xfrm>
          <a:prstGeom prst="roundRect">
            <a:avLst>
              <a:gd name="adj" fmla="val 3158"/>
            </a:avLst>
          </a:prstGeom>
          <a:solidFill>
            <a:srgbClr val="FEF6E7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86968" y="21671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when the ticket is pushed backwards in the ribbon — QA fails it, deployment fails, sign-off rejects.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990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within one life of the ticket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3319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as: Iteration 3, with a rework badge on the looping segment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6208" y="1417320"/>
            <a:ext cx="5394960" cy="2606040"/>
          </a:xfrm>
          <a:prstGeom prst="roundRect">
            <a:avLst>
              <a:gd name="adj" fmla="val 3158"/>
            </a:avLst>
          </a:prstGeom>
          <a:solidFill>
            <a:srgbClr val="EEF2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6248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56248" y="21671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when the ticket is reopened after it has already been closed.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56248" y="2990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the whole ticket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56248" y="3319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as: Cycle 2 of 2, with its own separate ribbon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315968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" y="4553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can read: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27248" y="4517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  ·  Iteration 3  ·  currently in QA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2688" y="4974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once, reopened, and QA has already bounced it twice in this second life. Every cycle keeps its own ribbon, selectable from a chip above the strip.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SAMPLE  ·  SCREEN S-20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detail with the ribbon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5029200"/>
          </a:xfrm>
          <a:prstGeom prst="roundRect">
            <a:avLst>
              <a:gd name="adj" fmla="val 909"/>
            </a:avLst>
          </a:prstGeom>
          <a:solidFill>
            <a:srgbClr val="F7F8FC"/>
          </a:solidFill>
          <a:ln w="12700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16736"/>
            <a:ext cx="11027664" cy="310896"/>
          </a:xfrm>
          <a:prstGeom prst="rect">
            <a:avLst/>
          </a:prstGeom>
          <a:solidFill>
            <a:srgbClr val="EDEFF5"/>
          </a:solidFill>
          <a:ln w="12700">
            <a:solidFill>
              <a:srgbClr val="ED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417320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1362456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taskdesk.acme.com/tickets/CRM-26-00347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" y="1773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CRM-26-00347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54096" y="1755648"/>
            <a:ext cx="786384" cy="256032"/>
          </a:xfrm>
          <a:prstGeom prst="roundRect">
            <a:avLst>
              <a:gd name="adj" fmla="val 3214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175564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1755648"/>
            <a:ext cx="1371600" cy="256032"/>
          </a:xfrm>
          <a:prstGeom prst="roundRect">
            <a:avLst>
              <a:gd name="adj" fmla="val 32143"/>
            </a:avLst>
          </a:prstGeom>
          <a:solidFill>
            <a:srgbClr val="FEF6E7"/>
          </a:solidFill>
          <a:ln w="12700">
            <a:solidFill>
              <a:srgbClr val="FEF6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755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3 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71816" y="1737360"/>
            <a:ext cx="914400" cy="292608"/>
          </a:xfrm>
          <a:prstGeom prst="roundRect">
            <a:avLst>
              <a:gd name="adj" fmla="val 21875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71816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update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41080" y="1737360"/>
            <a:ext cx="91440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status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10344" y="1737360"/>
            <a:ext cx="91440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0344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79608" y="1737360"/>
            <a:ext cx="91440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79608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" y="208483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timeout on checkout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671816" y="2103120"/>
            <a:ext cx="1371600" cy="274320"/>
          </a:xfrm>
          <a:prstGeom prst="roundRect">
            <a:avLst>
              <a:gd name="adj" fmla="val 30000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71816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attachments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34856" y="2103120"/>
            <a:ext cx="1371600" cy="274320"/>
          </a:xfrm>
          <a:prstGeom prst="roundRect">
            <a:avLst>
              <a:gd name="adj" fmla="val 30000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34856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" y="2523744"/>
            <a:ext cx="1066190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2624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536192" y="2606040"/>
            <a:ext cx="896112" cy="237744"/>
          </a:xfrm>
          <a:prstGeom prst="roundRect">
            <a:avLst>
              <a:gd name="adj" fmla="val 3461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36192" y="260604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96896" y="26243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  ·  1 rework  ·  in QA 6h 40m of 8h SLA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26243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to deployment    |    Fail — send for rework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2935224"/>
            <a:ext cx="1248156" cy="621792"/>
          </a:xfrm>
          <a:prstGeom prst="roundRect">
            <a:avLst>
              <a:gd name="adj" fmla="val 8824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026664"/>
            <a:ext cx="1248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3264408"/>
            <a:ext cx="124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· 0.5h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17420" y="2935224"/>
            <a:ext cx="1248156" cy="621792"/>
          </a:xfrm>
          <a:prstGeom prst="roundRect">
            <a:avLst>
              <a:gd name="adj" fmla="val 8824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17420" y="3026664"/>
            <a:ext cx="1248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17420" y="3264408"/>
            <a:ext cx="124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· 1.0h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520440" y="2935224"/>
            <a:ext cx="1248156" cy="621792"/>
          </a:xfrm>
          <a:prstGeom prst="roundRect">
            <a:avLst>
              <a:gd name="adj" fmla="val 8824"/>
            </a:avLst>
          </a:prstGeom>
          <a:solidFill>
            <a:srgbClr val="FEF6E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3026664"/>
            <a:ext cx="1248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20440" y="3264408"/>
            <a:ext cx="124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· 14.5h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23460" y="2935224"/>
            <a:ext cx="1248156" cy="621792"/>
          </a:xfrm>
          <a:prstGeom prst="roundRect">
            <a:avLst>
              <a:gd name="adj" fmla="val 8824"/>
            </a:avLst>
          </a:prstGeom>
          <a:solidFill>
            <a:srgbClr val="EEF2FF"/>
          </a:solidFill>
          <a:ln w="22225">
            <a:solidFill>
              <a:srgbClr val="4F46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3460" y="3026664"/>
            <a:ext cx="1248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· NOW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23460" y="3264408"/>
            <a:ext cx="124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· 3.5h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26480" y="2935224"/>
            <a:ext cx="12481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026664"/>
            <a:ext cx="1248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26480" y="3264408"/>
            <a:ext cx="124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29500" y="2935224"/>
            <a:ext cx="12481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29500" y="3026664"/>
            <a:ext cx="1248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29500" y="3264408"/>
            <a:ext cx="124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732520" y="2935224"/>
            <a:ext cx="12481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32520" y="3026664"/>
            <a:ext cx="1248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732520" y="3264408"/>
            <a:ext cx="124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035540" y="2935224"/>
            <a:ext cx="124815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35540" y="3026664"/>
            <a:ext cx="1248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035540" y="3264408"/>
            <a:ext cx="1248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68096" y="3840480"/>
            <a:ext cx="690372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7824" y="3941064"/>
            <a:ext cx="877824" cy="237744"/>
          </a:xfrm>
          <a:prstGeom prst="roundRect">
            <a:avLst>
              <a:gd name="adj" fmla="val 3461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7824" y="394106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837944" y="394106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798064" y="394106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758184" y="394106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18304" y="394106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32688" y="43251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316736" y="43251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2889504" y="43251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462272" y="432511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303520" y="43251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437376" y="43251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32688" y="4562856"/>
            <a:ext cx="6583680" cy="7315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2688" y="46268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1316736" y="46268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2889504" y="462686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462272" y="46268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Aug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303520" y="462686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1h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437376" y="4626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 h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932688" y="4864608"/>
            <a:ext cx="6583680" cy="7315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2688" y="492861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316736" y="49286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— failed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2889504" y="49286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Sharma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4462272" y="492861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Aug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5303520" y="492861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40m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6437376" y="49286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h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932688" y="5166360"/>
            <a:ext cx="6583680" cy="7315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32688" y="52303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1316736" y="52303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2889504" y="52303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4462272" y="523036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Aug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5303520" y="523036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2h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6437376" y="52303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h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932688" y="5468112"/>
            <a:ext cx="6583680" cy="7315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32688" y="55321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316736" y="55321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— current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2889504" y="55321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Sharma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4462272" y="55321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Aug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5303520" y="553212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40m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6437376" y="55321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h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932688" y="5797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across all cycles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6647688" y="57972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 h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7854696" y="3840480"/>
            <a:ext cx="357530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37576" y="3977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9592056" y="3977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Portal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8037576" y="42062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9592056" y="4206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Retail Ltd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8037576" y="4434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9592056" y="44348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Menon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8037576" y="46634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9592056" y="46634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Bug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8037576" y="48920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9592056" y="4892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8037576" y="5120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9592056" y="5120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Sharma (QA)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8037576" y="53492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close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9592056" y="5349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 2026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8037576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9592056" y="55778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h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8037576" y="58064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50" dirty="0"/>
          </a:p>
        </p:txBody>
      </p:sp>
      <p:sp>
        <p:nvSpPr>
          <p:cNvPr id="119" name="Text 117"/>
          <p:cNvSpPr/>
          <p:nvPr/>
        </p:nvSpPr>
        <p:spPr>
          <a:xfrm>
            <a:off x="9592056" y="58064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 h  (+375%)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additions to the ticket page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small. Together they are what makes the page usable by a support desk handling real client traffic.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110435" cy="320040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039112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569464"/>
            <a:ext cx="16715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dropdown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3172968"/>
            <a:ext cx="1671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Colour-chip select from the priority master. Default comes from the task type; changing it recomputes and previews the planned close date before you save. A reason is required once assigned.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05379" y="1783080"/>
            <a:ext cx="2110435" cy="320040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24835" y="2039112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4835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24835" y="2569464"/>
            <a:ext cx="16715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dropdown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24835" y="3172968"/>
            <a:ext cx="1671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Type-ahead over clients mapped to the project, plus a dependent contact dropdown for the individual who reported it. Inline add-contact so the desk never leaves the form.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43830" y="1783080"/>
            <a:ext cx="2110435" cy="320040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63286" y="203911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3286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63286" y="2569464"/>
            <a:ext cx="16715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63286" y="3172968"/>
            <a:ext cx="1671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pick, or paste a screenshot straight from the clipboard. Thumbnails and a lightbox for images. MIME-sniffed, virus-scanned, EXIF stripped, signed URLs only.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82282" y="1783080"/>
            <a:ext cx="2110435" cy="320040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01738" y="2039112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01738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01738" y="2569464"/>
            <a:ext cx="16715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box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01738" y="3172968"/>
            <a:ext cx="1671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with mentions and files. Internal or client-visible. Locked after five minutes, and interleaved into the history timeline with author, role, stage and iteration.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20733" y="1783080"/>
            <a:ext cx="2110435" cy="320040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40189" y="203911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40189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40189" y="2569464"/>
            <a:ext cx="16715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alerts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40189" y="3172968"/>
            <a:ext cx="1671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mail fires to the assignee on every stage handoff and every event that changes who is responsible. Assignment and escalation mails cannot be switched off.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193792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5349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master screens support these: Client master, client contacts and the Excel import wizard — taking the system to 34 screens.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SAMPLE  ·  COMMENT BOX AND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become history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4846320" cy="2514600"/>
          </a:xfrm>
          <a:prstGeom prst="roundRect">
            <a:avLst>
              <a:gd name="adj" fmla="val 1818"/>
            </a:avLst>
          </a:prstGeom>
          <a:solidFill>
            <a:srgbClr val="F7F8FC"/>
          </a:solidFill>
          <a:ln w="12700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44168"/>
            <a:ext cx="4809744" cy="310896"/>
          </a:xfrm>
          <a:prstGeom prst="rect">
            <a:avLst/>
          </a:prstGeom>
          <a:solidFill>
            <a:srgbClr val="EDEFF5"/>
          </a:solidFill>
          <a:ln w="12700">
            <a:solidFill>
              <a:srgbClr val="ED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13898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comment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5528" y="1828800"/>
            <a:ext cx="43891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929384"/>
            <a:ext cx="4133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the retry timeout. Patch pushed,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QA — @Anil Sharma please retest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checkout path on staging.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" y="297180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9718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79576" y="297180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29718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63624" y="297180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63624" y="29718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47672" y="297180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47672" y="29718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31720" y="297180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9718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15768" y="297180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15768" y="29718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82696" y="297180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82696" y="29718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5528" y="3337560"/>
            <a:ext cx="1371600" cy="292608"/>
          </a:xfrm>
          <a:prstGeom prst="roundRect">
            <a:avLst>
              <a:gd name="adj" fmla="val 28125"/>
            </a:avLst>
          </a:prstGeom>
          <a:solidFill>
            <a:srgbClr val="FEF6E7"/>
          </a:solidFill>
          <a:ln w="12700">
            <a:solidFill>
              <a:srgbClr val="FEF6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41648" y="333756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41648" y="3337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041648"/>
            <a:ext cx="4846320" cy="1828800"/>
          </a:xfrm>
          <a:prstGeom prst="roundRect">
            <a:avLst>
              <a:gd name="adj" fmla="val 4500"/>
            </a:avLst>
          </a:prstGeom>
          <a:solidFill>
            <a:srgbClr val="EEF2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1248" y="4224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after five minutes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248" y="45720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edit inside the window is allowed and marked. After that the comment is immutable — the original is preserved and a deletion leaves a tombstone. No role, including Admin, can silently rewrite what someone said.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96128" y="1325880"/>
            <a:ext cx="6035040" cy="4544568"/>
          </a:xfrm>
          <a:prstGeom prst="roundRect">
            <a:avLst>
              <a:gd name="adj" fmla="val 1006"/>
            </a:avLst>
          </a:prstGeom>
          <a:solidFill>
            <a:srgbClr val="F7F8FC"/>
          </a:solidFill>
          <a:ln w="12700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14416" y="1344168"/>
            <a:ext cx="5998464" cy="310896"/>
          </a:xfrm>
          <a:prstGeom prst="rect">
            <a:avLst/>
          </a:prstGeom>
          <a:solidFill>
            <a:srgbClr val="EDEFF5"/>
          </a:solidFill>
          <a:ln w="12700">
            <a:solidFill>
              <a:srgbClr val="EDEF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42432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53328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13898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 ·  one chronological stream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52160" y="1947672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16168" y="2112264"/>
            <a:ext cx="13716" cy="548640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874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Aug 14:22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15200" y="1874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 · Developer · Development, iteration 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315200" y="21122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"Root cause is the retry timeout. Patch pushed, ready for QA."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52160" y="2734056"/>
            <a:ext cx="146304" cy="14630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16168" y="2898648"/>
            <a:ext cx="13716" cy="548640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26609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Aug 14:25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15200" y="26609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 Development → QA   Ravi Kumar → Anil Sharma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15200" y="2898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"Please retest the checkout path on staging"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352044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16168" y="3685032"/>
            <a:ext cx="13716" cy="548640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4472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Aug 16:40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15200" y="34472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changed  High → Critical   by System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315200" y="3685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planned close date breached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52160" y="4306824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16168" y="4471416"/>
            <a:ext cx="13716" cy="548640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4233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Aug 09:15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315200" y="4233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Sharma · QA · QA, iteration 2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315200" y="44714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"Verified on staging, three of three defects closed."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52160" y="509320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50200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Aug 09:16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315200" y="5020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added  qa-signoff-report.pdf  412 KB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315200" y="52578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by Anil Sharma · internal only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852160" y="5550408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field changes, handoffs and attachments in one readable stream — not two lists to reconcile.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SAMPLE  ·  SCREENS S-32 TO S-34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master with Excel import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110435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53896"/>
            <a:ext cx="17446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1691640"/>
            <a:ext cx="1744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template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05379" y="1325880"/>
            <a:ext cx="2110435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88259" y="1453896"/>
            <a:ext cx="17446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88259" y="1691640"/>
            <a:ext cx="1744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file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43830" y="1325880"/>
            <a:ext cx="2110435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6710" y="1453896"/>
            <a:ext cx="17446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26710" y="1691640"/>
            <a:ext cx="1744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columns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82282" y="1325880"/>
            <a:ext cx="2110435" cy="822960"/>
          </a:xfrm>
          <a:prstGeom prst="roundRect">
            <a:avLst>
              <a:gd name="adj" fmla="val 8889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5162" y="1453896"/>
            <a:ext cx="17446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65162" y="1691640"/>
            <a:ext cx="1744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— dry run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20733" y="1325880"/>
            <a:ext cx="2110435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3613" y="1453896"/>
            <a:ext cx="17446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03613" y="1691640"/>
            <a:ext cx="1744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2377440"/>
            <a:ext cx="11064240" cy="2880360"/>
          </a:xfrm>
          <a:prstGeom prst="roundRect">
            <a:avLst>
              <a:gd name="adj" fmla="val 1587"/>
            </a:avLst>
          </a:prstGeom>
          <a:solidFill>
            <a:srgbClr val="F7F8FC"/>
          </a:solidFill>
          <a:ln w="12700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" y="2395728"/>
            <a:ext cx="11027664" cy="310896"/>
          </a:xfrm>
          <a:prstGeom prst="rect">
            <a:avLst/>
          </a:prstGeom>
          <a:solidFill>
            <a:srgbClr val="EDEFF5"/>
          </a:solidFill>
          <a:ln w="12700">
            <a:solidFill>
              <a:srgbClr val="EDEF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249631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249631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" y="249631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2728" y="244144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import  ·  validation preview — nothing has been written yet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29077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99616" y="29077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36976" y="2907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80176" y="2907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08976" y="2907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9808" y="3191256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32369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499616" y="32369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36976" y="32369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Retail Ltd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80176" y="3236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create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08976" y="3236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9808" y="3520440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3566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499616" y="35661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36976" y="3566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Traders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80176" y="3566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update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08976" y="3566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phone differ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9808" y="3849624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EF6E7"/>
          </a:solidFill>
          <a:ln w="12700">
            <a:solidFill>
              <a:srgbClr val="FEF6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38953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499616" y="38953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36976" y="38953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Retail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980176" y="3895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 file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808976" y="3895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wins, row 4 skipped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49808" y="4178808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9536" y="4224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499616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(blank)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236976" y="4224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Systems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980176" y="4224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4224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code is required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49808" y="4507992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9536" y="45537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499616" y="4553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236976" y="45537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Systems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45537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808976" y="4553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email format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59536" y="49194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900" dirty="0"/>
          </a:p>
        </p:txBody>
      </p:sp>
      <p:sp>
        <p:nvSpPr>
          <p:cNvPr id="61" name="Text 59"/>
          <p:cNvSpPr/>
          <p:nvPr/>
        </p:nvSpPr>
        <p:spPr>
          <a:xfrm>
            <a:off x="1728216" y="4992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created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511296" y="49194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900" dirty="0"/>
          </a:p>
        </p:txBody>
      </p:sp>
      <p:sp>
        <p:nvSpPr>
          <p:cNvPr id="63" name="Text 61"/>
          <p:cNvSpPr/>
          <p:nvPr/>
        </p:nvSpPr>
        <p:spPr>
          <a:xfrm>
            <a:off x="4379976" y="4992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updated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63056" y="49194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7031736" y="4992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skipped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814816" y="49194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67" name="Text 65"/>
          <p:cNvSpPr/>
          <p:nvPr/>
        </p:nvSpPr>
        <p:spPr>
          <a:xfrm>
            <a:off x="9683496" y="4992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downloadable error report adds a Reason column to every rejected row, so the user fixes and re-uploads only those. Existing clients are upserted on client code, never duplicated, and every import records a batch id that identifies exactly which rows it touched.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ALERT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mail on every handoff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80644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19456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 goes 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created and assigned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 — ribbon moves 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stage 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back for rework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Developer, cc 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 to 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Assignee, PM,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or stage SLA breached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Assignee, PM,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Reopened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assignee, 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or mention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Assignee, watchers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Reporter, client contact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digest 08:30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371600"/>
            <a:ext cx="4903927" cy="2788920"/>
          </a:xfrm>
          <a:prstGeom prst="roundRect">
            <a:avLst>
              <a:gd name="adj" fmla="val 1639"/>
            </a:avLst>
          </a:prstGeom>
          <a:solidFill>
            <a:srgbClr val="F7F8FC"/>
          </a:solidFill>
          <a:ln w="12700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39128" y="1389888"/>
            <a:ext cx="4867351" cy="310896"/>
          </a:xfrm>
          <a:prstGeom prst="rect">
            <a:avLst/>
          </a:prstGeom>
          <a:solidFill>
            <a:srgbClr val="EDEFF5"/>
          </a:solidFill>
          <a:ln w="12700">
            <a:solidFill>
              <a:srgbClr val="EDEF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67144" y="149047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22592" y="149047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78040" y="149047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1435608"/>
            <a:ext cx="3989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76872" y="1874520"/>
            <a:ext cx="4391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[CRM-26-00347] Handed to you at QA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76872" y="2176272"/>
            <a:ext cx="4391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TaskDesk  ·  to Anil Sharma  ·  06 Aug 14:25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76872" y="2487168"/>
            <a:ext cx="4391863" cy="10973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76872" y="26151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75320" y="2615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Retail Ltd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976872" y="2834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75320" y="2834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976872" y="3054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75320" y="30540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— 8h SLA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976872" y="3273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close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75320" y="3273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 2026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76872" y="3493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75320" y="34930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 (Developer)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976872" y="3767328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76872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549640" y="3785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add a comment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66928" y="49834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Queued, never inline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66928" y="5294376"/>
            <a:ext cx="3529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through BullMQ so a slow SMTP server can never slow down a handoff.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334256" y="49834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and logged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334256" y="5294376"/>
            <a:ext cx="3529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Message-ID headers collapse a ticket into one Outlook thread; every send is logged with delivery status.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101584" y="49834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 by an admin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101584" y="5294376"/>
            <a:ext cx="3529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bodies and merge tags live in the template master — editable without a release.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SAMPLE  ·  SCREEN S-05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dashboard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5029200"/>
          </a:xfrm>
          <a:prstGeom prst="roundRect">
            <a:avLst>
              <a:gd name="adj" fmla="val 909"/>
            </a:avLst>
          </a:prstGeom>
          <a:solidFill>
            <a:srgbClr val="F7F8FC"/>
          </a:solidFill>
          <a:ln w="12700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16736"/>
            <a:ext cx="11027664" cy="310896"/>
          </a:xfrm>
          <a:prstGeom prst="rect">
            <a:avLst/>
          </a:prstGeom>
          <a:solidFill>
            <a:srgbClr val="EDEFF5"/>
          </a:solidFill>
          <a:ln w="12700">
            <a:solidFill>
              <a:srgbClr val="ED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417320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1362456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taskdesk.acme.com/dashboard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19288" y="1783080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19288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89720" y="1783080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days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360152" y="1783080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60152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5528" y="2185416"/>
            <a:ext cx="16611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2304288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" y="2514600"/>
            <a:ext cx="1386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84704" y="2185416"/>
            <a:ext cx="16611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1008" y="2304288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31008" y="2514600"/>
            <a:ext cx="1386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373880" y="2185416"/>
            <a:ext cx="16611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0184" y="2304288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0184" y="2514600"/>
            <a:ext cx="1386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1,021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63056" y="2185416"/>
            <a:ext cx="1661160" cy="786384"/>
          </a:xfrm>
          <a:prstGeom prst="roundRect">
            <a:avLst>
              <a:gd name="adj" fmla="val 8140"/>
            </a:avLst>
          </a:prstGeom>
          <a:solidFill>
            <a:srgbClr val="FEF2F2"/>
          </a:solidFill>
          <a:ln w="9525">
            <a:solidFill>
              <a:srgbClr val="FEF2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304288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514600"/>
            <a:ext cx="1386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952232" y="2185416"/>
            <a:ext cx="1661160" cy="786384"/>
          </a:xfrm>
          <a:prstGeom prst="roundRect">
            <a:avLst>
              <a:gd name="adj" fmla="val 8140"/>
            </a:avLst>
          </a:prstGeom>
          <a:solidFill>
            <a:srgbClr val="FEF6E7"/>
          </a:solidFill>
          <a:ln w="9525">
            <a:solidFill>
              <a:srgbClr val="FEF6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8536" y="2304288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98536" y="2514600"/>
            <a:ext cx="1386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741408" y="2185416"/>
            <a:ext cx="16611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87712" y="2304288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87712" y="2514600"/>
            <a:ext cx="1386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95528" y="3118104"/>
            <a:ext cx="58521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32369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status — created vs closed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88136" y="4004158"/>
            <a:ext cx="182880" cy="59527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98448" y="4119372"/>
            <a:ext cx="182880" cy="4800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36776" y="3850538"/>
            <a:ext cx="182880" cy="74889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47088" y="3965753"/>
            <a:ext cx="182880" cy="63367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85416" y="4071366"/>
            <a:ext cx="182880" cy="52806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95728" y="4004158"/>
            <a:ext cx="182880" cy="59527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34056" y="3735324"/>
            <a:ext cx="182880" cy="8641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3908146"/>
            <a:ext cx="182880" cy="69128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82696" y="3908146"/>
            <a:ext cx="182880" cy="69128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93008" y="3831336"/>
            <a:ext cx="182880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31336" y="3965753"/>
            <a:ext cx="182880" cy="633679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41648" y="4023360"/>
            <a:ext cx="182880" cy="576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79976" y="3792931"/>
            <a:ext cx="182880" cy="806501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90288" y="3888943"/>
            <a:ext cx="182880" cy="71048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28616" y="4061765"/>
            <a:ext cx="182880" cy="537667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38928" y="3984955"/>
            <a:ext cx="182880" cy="61447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77256" y="3879342"/>
            <a:ext cx="182880" cy="72009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87568" y="3773729"/>
            <a:ext cx="182880" cy="825703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25896" y="3927348"/>
            <a:ext cx="182880" cy="67208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36208" y="3850538"/>
            <a:ext cx="182880" cy="74889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1560" y="4599432"/>
            <a:ext cx="5394960" cy="9144"/>
          </a:xfrm>
          <a:prstGeom prst="rect">
            <a:avLst/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10328" y="4718304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56632" y="4681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33288" y="4718304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79592" y="4681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30568" y="3118104"/>
            <a:ext cx="45262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13448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funnel — where work is sitting now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013448" y="3575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065008" y="3557016"/>
            <a:ext cx="2776118" cy="21945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914278" y="35661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013448" y="3904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065008" y="3886200"/>
            <a:ext cx="1870862" cy="219456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09022" y="38953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013448" y="4233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065008" y="4215384"/>
            <a:ext cx="1025957" cy="219456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64117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013448" y="45628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065008" y="4544568"/>
            <a:ext cx="603504" cy="219456"/>
          </a:xfrm>
          <a:prstGeom prst="roundRect">
            <a:avLst>
              <a:gd name="adj" fmla="val 16667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41664" y="45537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95528" y="5093208"/>
            <a:ext cx="105613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8408" y="51937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and delayed — needs attention today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978408" y="54589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CRM-26-00347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532888" y="54589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timeout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64808" y="5458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573768" y="5458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late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78408" y="5715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CRM-26-00402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2532888" y="5715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fails on Safari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464808" y="57150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Singh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9573768" y="57150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late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SAMPLE  ·  SCREENS S-18 AND S-21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 and quick update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7040880" cy="4937760"/>
          </a:xfrm>
          <a:prstGeom prst="roundRect">
            <a:avLst>
              <a:gd name="adj" fmla="val 926"/>
            </a:avLst>
          </a:prstGeom>
          <a:solidFill>
            <a:srgbClr val="F7F8FC"/>
          </a:solidFill>
          <a:ln w="12700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44168"/>
            <a:ext cx="7004304" cy="310896"/>
          </a:xfrm>
          <a:prstGeom prst="rect">
            <a:avLst/>
          </a:prstGeom>
          <a:solidFill>
            <a:srgbClr val="EDEFF5"/>
          </a:solidFill>
          <a:ln w="12700">
            <a:solidFill>
              <a:srgbClr val="ED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138988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taskdesk.acme.com/my-tasks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68496" y="1810512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8496" y="181051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82896" y="1810512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81051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97296" y="1810512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7296" y="181051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11696" y="1810512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181051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39696" y="2212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25696" y="22128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0136" y="22128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28816" y="22128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3232" y="2468880"/>
            <a:ext cx="667512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9525">
            <a:solidFill>
              <a:srgbClr val="FEF2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25511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CRM-26-00347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39696" y="2551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timeout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25696" y="2551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0136" y="25511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28816" y="25511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28816" y="2615184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38544" y="2615184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48272" y="2615184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2615184"/>
            <a:ext cx="77724" cy="777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67728" y="261518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77456" y="261518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87184" y="261518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96912" y="261518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2907792"/>
            <a:ext cx="6675120" cy="384048"/>
          </a:xfrm>
          <a:prstGeom prst="roundRect">
            <a:avLst>
              <a:gd name="adj" fmla="val 11905"/>
            </a:avLst>
          </a:prstGeom>
          <a:solidFill>
            <a:srgbClr val="FEF6E7"/>
          </a:solidFill>
          <a:ln w="9525">
            <a:solidFill>
              <a:srgbClr val="FEF6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2990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CRM-26-00402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39696" y="2990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fails on Safari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25696" y="299008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0136" y="29900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Aug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28816" y="29900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28816" y="3054096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38544" y="3054096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48272" y="3054096"/>
            <a:ext cx="77724" cy="777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3054096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67728" y="3054096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77456" y="3054096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87184" y="3054096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96912" y="3054096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" y="3346704"/>
            <a:ext cx="6675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" y="3429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CRM-26-00415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139696" y="3429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CSV export to reports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425696" y="34290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60136" y="342900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528816" y="34290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0.0h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28816" y="3493008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38544" y="3493008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48272" y="3493008"/>
            <a:ext cx="77724" cy="777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0" y="3493008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67728" y="3493008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77456" y="3493008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87184" y="3493008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96912" y="3493008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3232" y="3785616"/>
            <a:ext cx="6675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8096" y="38679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HRM-26-00118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139696" y="38679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 corrupts data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425696" y="38679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660136" y="38679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Aug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528816" y="38679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6.5h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528816" y="393192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38544" y="393192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48272" y="393192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58000" y="393192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67728" y="393192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077456" y="3931920"/>
            <a:ext cx="77724" cy="777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87184" y="3931920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96912" y="3931920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3232" y="4224528"/>
            <a:ext cx="6675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8096" y="43068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HRM-26-00124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139696" y="43068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dashboard load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425696" y="43068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660136" y="43068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Aug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528816" y="43068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2.0h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528816" y="4370832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638544" y="4370832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48272" y="4370832"/>
            <a:ext cx="77724" cy="777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58000" y="4370832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67728" y="4370832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077456" y="4370832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187184" y="4370832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296912" y="4370832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13232" y="4663440"/>
            <a:ext cx="6675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68096" y="47457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CRM-26-00431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2139696" y="47457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requested new field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4425696" y="47457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660136" y="47457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Aug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528816" y="47457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0.5h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528816" y="4809744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638544" y="4809744"/>
            <a:ext cx="77724" cy="777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48272" y="480974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858000" y="480974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67728" y="480974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077456" y="480974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187184" y="480974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96912" y="4809744"/>
            <a:ext cx="77724" cy="7772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8096" y="5879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ribbon — eight dots per row show where every ticket sits without opening it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927848" y="1325880"/>
            <a:ext cx="3696919" cy="3977640"/>
          </a:xfrm>
          <a:prstGeom prst="roundRect">
            <a:avLst>
              <a:gd name="adj" fmla="val 1237"/>
            </a:avLst>
          </a:prstGeom>
          <a:solidFill>
            <a:srgbClr val="F7F8FC"/>
          </a:solidFill>
          <a:ln w="12700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7946136" y="1344168"/>
            <a:ext cx="3660343" cy="310896"/>
          </a:xfrm>
          <a:prstGeom prst="rect">
            <a:avLst/>
          </a:prstGeom>
          <a:solidFill>
            <a:srgbClr val="EDEFF5"/>
          </a:solidFill>
          <a:ln w="12700">
            <a:solidFill>
              <a:srgbClr val="EDEFF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074152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229600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385048" y="1444752"/>
            <a:ext cx="100584" cy="100584"/>
          </a:xfrm>
          <a:prstGeom prst="ellipse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613648" y="1389888"/>
            <a:ext cx="2782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update  ·  CRM-26-00347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8202168" y="1892808"/>
            <a:ext cx="31482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8202168" y="2112264"/>
            <a:ext cx="314827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311896" y="2112264"/>
            <a:ext cx="2965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8202168" y="2459736"/>
            <a:ext cx="31482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effort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8202168" y="2679192"/>
            <a:ext cx="314827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311896" y="2679192"/>
            <a:ext cx="2965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hours on 06 Aug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8202168" y="3026664"/>
            <a:ext cx="31482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note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202168" y="3246120"/>
            <a:ext cx="314827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311896" y="3246120"/>
            <a:ext cx="2965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retry logic, retesting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8202168" y="3593592"/>
            <a:ext cx="31482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complete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8202168" y="3813048"/>
            <a:ext cx="314827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311896" y="3813048"/>
            <a:ext cx="2965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50" dirty="0"/>
          </a:p>
        </p:txBody>
      </p:sp>
      <p:sp>
        <p:nvSpPr>
          <p:cNvPr id="127" name="Text 125"/>
          <p:cNvSpPr/>
          <p:nvPr/>
        </p:nvSpPr>
        <p:spPr>
          <a:xfrm>
            <a:off x="8202168" y="4160520"/>
            <a:ext cx="31482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ETA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8202168" y="4379976"/>
            <a:ext cx="3148279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311896" y="4379976"/>
            <a:ext cx="2965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Aug 2026 — reason required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8202168" y="4828032"/>
            <a:ext cx="3148279" cy="365760"/>
          </a:xfrm>
          <a:prstGeom prst="roundRect">
            <a:avLst>
              <a:gd name="adj" fmla="val 175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202168" y="4828032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7927848" y="5440680"/>
            <a:ext cx="3696919" cy="8229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156448" y="5605272"/>
            <a:ext cx="3239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is auto-stamped with the current stage and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cannot be rewritten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can change state. Nobody — including an admin — can change history. Four independent guards, so hiding a button is never the only defence.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6151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method issues UPDATE or DELETE on history or effort tables. Only insert is exposed.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151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0312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2633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39312" y="303580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PUT, PATCH or DELETE route is registered. A correction is a new compensating entry, like an accounting reversal.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9632" y="1828800"/>
            <a:ext cx="26151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55664" y="210312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55664" y="2633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55664" y="303580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app's DB role holds INSERT and SELECT grants only. A trigger raises an exception on any update or delete.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15984" y="1828800"/>
            <a:ext cx="2615184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210312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72016" y="2633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72016" y="303580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stores prev_hash and row_hash. A nightly job verifies the chain — even direct DB tampering is detectable.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5262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4700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10128" y="471830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 disputes what your team did on an issue, the journey grid is the answer — and it is only worth something if nobody could have edited it.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runs itself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46120"/>
                <a:gridCol w="342900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E8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assigned or handed 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Popup, bell,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warning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of time to planned close elapsed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 and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is past the planned close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forced to Critical, red banner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manager, 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stall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Stuck in a stage past its stage SLA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turns red on the ribbon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owner, PM, 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Ping-pong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count reaches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flag on the PM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PM, reporting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breach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more than 48 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 one level 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Manager's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update for 3 working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Assignee, cc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ticket unassigned over 2 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alert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PM, support desk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worker scans every 15 minutes. The original level is preserved, so you can always report how many tickets were born critical versus how many became critical.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measures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37160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37160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66928" y="5440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dashboard widgets in total. Every one drills through to the filtered ticket list behind it — no chart is a dead end.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screens across 8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55064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55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26464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189280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Forgot password · Change password · Two-factor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6208" y="1417320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5664" y="1655064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55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95744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95744" y="189280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dashboard · Chart drill-down modal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551176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2788920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788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6464" y="27340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302666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· Role · Project · Client + Excel import · Task type · Priority · Workflow · Calendar · Mail templates · Audit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2551176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5664" y="2788920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2788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95744" y="27340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95744" y="302666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· My tasks · Create · Detail with ribbon, comments and attachments · Quick update · Handoff · Reopen · Close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685032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392277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3922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26464" y="3867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queues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26464" y="4160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inbox · Workflow template designer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6208" y="3685032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55664" y="392277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3922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95744" y="3867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95744" y="4160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thread · direct message · project channel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818888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6384" y="5056632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5056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26464" y="5001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26464" y="529437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with per-user channel preferences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36208" y="4818888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55664" y="5056632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5056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95744" y="5001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095744" y="529437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hub · Report viewer · Resource 360 profile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095805" cy="3200400"/>
          </a:xfrm>
          <a:prstGeom prst="roundRect">
            <a:avLst>
              <a:gd name="adj" fmla="val 3927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64208"/>
            <a:ext cx="1730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1214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React SPA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5786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30358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Email-to-ticket inbox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44445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09037" y="1463040"/>
            <a:ext cx="2095805" cy="3200400"/>
          </a:xfrm>
          <a:prstGeom prst="roundRect">
            <a:avLst>
              <a:gd name="adj" fmla="val 3927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1917" y="1664208"/>
            <a:ext cx="1730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91917" y="21214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· TLS, rate limit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1917" y="25786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91917" y="30358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guard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91917" y="34930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Row-scope guard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86554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51146" y="1463040"/>
            <a:ext cx="2095805" cy="3200400"/>
          </a:xfrm>
          <a:prstGeom prst="roundRect">
            <a:avLst>
              <a:gd name="adj" fmla="val 392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34026" y="1664208"/>
            <a:ext cx="1730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4026" y="21214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User · 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4026" y="25786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· Cycle · Stage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4026" y="30358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· Notification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4026" y="34930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Dashboard · Report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28662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293254" y="1463040"/>
            <a:ext cx="2095805" cy="3200400"/>
          </a:xfrm>
          <a:prstGeom prst="roundRect">
            <a:avLst>
              <a:gd name="adj" fmla="val 3927"/>
            </a:avLst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6134" y="1664208"/>
            <a:ext cx="1730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6134" y="21214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replica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76134" y="25786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and pub/sub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6134" y="30358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gateway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76134" y="34930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MinIO files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70771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535363" y="1463040"/>
            <a:ext cx="2095805" cy="3200400"/>
          </a:xfrm>
          <a:prstGeom prst="roundRect">
            <a:avLst>
              <a:gd name="adj" fmla="val 392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718243" y="1664208"/>
            <a:ext cx="17300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18243" y="21214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and delay scanner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18243" y="25786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dispatcher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18243" y="30358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aggregates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18243" y="3493008"/>
            <a:ext cx="17300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 verification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486460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" y="5138928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read pre-aggregated summary tables refreshed every 5 minutes — never a live count over the full ticket table.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334256" y="486460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34256" y="5138928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rooms per user, per ticket, per project and per stage queue. The ribbon advances live for everyone watching.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01584" y="486460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101584" y="5138928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indexes on open tickets, cursor pagination, one aggregated endpoint per detail page, archive after three years.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2958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0078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340864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677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2798064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7249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3255264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1821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for drill-down charts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3712464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6393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+ Zustand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4169664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0965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34256" y="1444752"/>
            <a:ext cx="352958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0288" y="170078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08576" y="23408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677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NestJS (TypeScript)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08576" y="27980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7249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 TypeORM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08576" y="32552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31821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job queue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08576" y="37124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6393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08576" y="41696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40965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+ JWT auth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01584" y="1444752"/>
            <a:ext cx="352958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170078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75904" y="23408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77072" y="22677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primary + replica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375904" y="27980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77072" y="27249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and sessions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375904" y="32552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77072" y="31821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or MinIO object storage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375904" y="37124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77072" y="36393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 Kubernetes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375904" y="41696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77072" y="40965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Sentry, Prometheus, Grafana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66928" y="4864608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5047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075688" y="50292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Web API or Spring Boot both fit this design equally well — choose by the skill your team already has, not by the framework. Nothing in the data model or the guards depends on Node.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access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27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8013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submitted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32304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527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78608" y="18013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and lockout check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1527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3984" y="18013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verify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27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8013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password change / 2FA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28432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4736" y="1527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74736" y="18013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 tokens issued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93808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40112" y="1527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40112" y="180136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by role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2788920"/>
            <a:ext cx="352958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30083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41248" y="353872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344728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token: JWT, 15 minutes, held in memory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1248" y="404164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39502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token: opaque, 7 days, HttpOnly cookie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" y="454456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45312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on every refresh; reuse revokes the family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1248" y="504748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95604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timeout 30 min, absolute session 12 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34256" y="2788920"/>
            <a:ext cx="352958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90288" y="30083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4608576" y="353872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344728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JwtAuthGuard — is the token valid and unrevoked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08576" y="404164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9502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RolesGuard — does the role hold the permission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08576" y="454456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445312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DataScopeGuard — rewrites the query's WHERE clause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608576" y="504748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495604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ticket returns 404, never 403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01584" y="2788920"/>
            <a:ext cx="3529584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357616" y="30083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policy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8375904" y="353872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58784" y="344728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Argon2id, 64 MB memory, 3 iterations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75904" y="404164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58784" y="39502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after 5 attempts, admin notified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75904" y="454456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58784" y="445312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change on first login, no reuse of last 3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375904" y="5047488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58784" y="495604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TOTP; SSO via Azure AD or Google in phase 3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for the manager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28216"/>
            <a:ext cx="347472" cy="3474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16002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scorecard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892808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Assigned, closed, on-time %, avg cycle time, effort, estimate variance, reopen rate, utilisation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6208" y="1417320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0528" y="1728216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22592" y="16002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velocity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22592" y="1892808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and effort-hours closed per week, 4-week rolling average, multi-resource comparison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551176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286207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73405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summary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026664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by resource, project and task type, drilling down to the individual log 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6208" y="2551176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273405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cycle time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22592" y="3026664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per ribbon stage, split into active effort versus idle queue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685032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995928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3312" y="38679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analysis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16052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rate by developer, QA rejection rate, first-time-right percentage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6208" y="3685032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0528" y="3995928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38679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latency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22592" y="4160520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between one team finishing and the next picking up — pure queue waste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818888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5129784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3312" y="500176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and delay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53312" y="5294376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breach, days overdue, escalation level and recorded reason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6208" y="4818888"/>
            <a:ext cx="5394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10528" y="5129784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22592" y="500176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360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22592" y="5294376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person's complete picture: open work, full history, effort timeline, trend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filters by date range, project, resource, type and level, exports to Excel, CSV or PDF, and can be scheduled by email.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simple, current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palette, one type scale, one radius. Nothing dark, nothing heavy.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280160" cy="1051560"/>
          </a:xfrm>
          <a:prstGeom prst="roundRect">
            <a:avLst>
              <a:gd name="adj" fmla="val 7826"/>
            </a:avLst>
          </a:prstGeom>
          <a:solidFill>
            <a:srgbClr val="F7F8FC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377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#F7F8FC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65960" y="1828800"/>
            <a:ext cx="12801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377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828800"/>
            <a:ext cx="1280160" cy="1051560"/>
          </a:xfrm>
          <a:prstGeom prst="roundRect">
            <a:avLst>
              <a:gd name="adj" fmla="val 7826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377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#4F46E5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64024" y="1828800"/>
            <a:ext cx="1280160" cy="1051560"/>
          </a:xfrm>
          <a:prstGeom prst="roundRect">
            <a:avLst>
              <a:gd name="adj" fmla="val 7826"/>
            </a:avLst>
          </a:prstGeom>
          <a:solidFill>
            <a:srgbClr val="EEF2FF"/>
          </a:solidFill>
          <a:ln w="9525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4024" y="2377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#EEF2FF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63056" y="1828800"/>
            <a:ext cx="1280160" cy="1051560"/>
          </a:xfrm>
          <a:prstGeom prst="roundRect">
            <a:avLst>
              <a:gd name="adj" fmla="val 7826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63056" y="2377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#10B981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62088" y="1828800"/>
            <a:ext cx="1280160" cy="1051560"/>
          </a:xfrm>
          <a:prstGeom prst="roundRect">
            <a:avLst>
              <a:gd name="adj" fmla="val 7826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2377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61120" y="1828800"/>
            <a:ext cx="1280160" cy="1051560"/>
          </a:xfrm>
          <a:prstGeom prst="roundRect">
            <a:avLst>
              <a:gd name="adj" fmla="val 7826"/>
            </a:avLst>
          </a:prstGeom>
          <a:solidFill>
            <a:srgbClr val="EF4444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0" y="2377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#EF4444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360152" y="1828800"/>
            <a:ext cx="1280160" cy="1051560"/>
          </a:xfrm>
          <a:prstGeom prst="roundRect">
            <a:avLst>
              <a:gd name="adj" fmla="val 7826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60152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60152" y="2377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#3B82F6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3246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" y="3557016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or Plus Jakarta Sans. 14px base, 24px headings. Two weights only.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334256" y="3246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334256" y="3557016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12px radius on cards, 8px on inputs, pill chips. Hairline borders, no heavy frames.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01584" y="32461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01584" y="3557016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150–200ms ease-out. Slide-over panels, skeleton loaders instead of spinners.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445312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66928" y="4764024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colour alone — every ribbon and status state carries an icon and a text label.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334256" y="445312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334256" y="4764024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 contrast throughout, full keyboard navigation, ARIA labels on charts.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101584" y="445312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101584" y="4764024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layout at 1280px+, collapsed sidebar to 768px, card list below that.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weeks to go-live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737360" cy="3108960"/>
          </a:xfrm>
          <a:prstGeom prst="roundRect">
            <a:avLst>
              <a:gd name="adj" fmla="val 4737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739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20665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999232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CI/CD, schema, design system, auth skeleton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32304" y="1554480"/>
            <a:ext cx="1737360" cy="3108960"/>
          </a:xfrm>
          <a:prstGeom prst="roundRect">
            <a:avLst>
              <a:gd name="adj" fmla="val 473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5184" y="17739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15184" y="20665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15184" y="2651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15184" y="2999232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Masters, client import, ticket CRUD with priority, attachments and comments, cycles, effort, ribbon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554480"/>
            <a:ext cx="1737360" cy="31089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7739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0665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2651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2999232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SLA engine, escalation, mail alert engine, stage queues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63056" y="1554480"/>
            <a:ext cx="1737360" cy="31089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7739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45936" y="20665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5936" y="2651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12–14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45936" y="2999232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ask status, mentions, watchers, attachments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28432" y="1554480"/>
            <a:ext cx="1737360" cy="31089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17739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11312" y="20665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11312" y="2651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15–17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11312" y="2999232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hub, scorecards, stage analytics, exports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893808" y="1554480"/>
            <a:ext cx="1737360" cy="3108960"/>
          </a:xfrm>
          <a:prstGeom prst="roundRect">
            <a:avLst>
              <a:gd name="adj" fmla="val 473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76688" y="17739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76688" y="20665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76688" y="2651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18–20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076688" y="2999232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viewer, hash verification, performance, security, UAT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48920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566928" y="53675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on the team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383280" y="48920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3383280" y="53675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go-live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199632" y="48920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199632" y="53675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delivered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015984" y="48920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9015984" y="53675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phase 1 is the ribbon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brief was missing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additions that will be requested in month two if they are not built in month one. Ranked by cost of omission.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in the MVP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6968" y="2395728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1343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separate from stage — which team holds it versus whether work is moving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6968" y="2962656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8036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SLAs, distinct from the ticket SLA — a ticket can rot in a queue while still inside its due 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" y="3529584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4728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versus actual effort — the brief captures effort but nothing to measure it against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" y="409651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01421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logging blocking at handoff — otherwise the per-resource roll-up is fiction within a month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" y="4663440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58114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calendar, holidays and leave — or SLAs breach over weekends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" y="5230368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14807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Watchers and CC — one assignee is rarely the only person who needs the alert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6208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EF2FF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B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56248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in phases 2 and 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56248" y="2395728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31343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— what turns this into a true client ticketing system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56248" y="2962656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88036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Email-to-ticket — the single biggest adoption lever for a support desk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56248" y="3529584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44728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Auto-assignment for QA and Deployment queues, so nothing stalls unowned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56248" y="4096512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01421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reassignment — mandatory the first time someone resigns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56248" y="4663440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58114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flow for change requests before work starts, and a CSAT survey on closure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56248" y="5230368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514807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 build number captured at deployment, to answer what shipped in 4.2.1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Twenty-five further items are catalogued in the written blueprint, along with six governance questions to settle before development starts.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BEFORE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to settle first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developer close a ticket?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569464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resolve only. With the ribbon, closure belongs to the sign-off owner.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6208" y="205740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4028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ticket skip QA?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569464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PM or admin only, reason mandatory, never for a production bug.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355848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3872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rework reset the planned close date?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86791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no. The original date stands — that is what the iteration counter is for.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3355848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53872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a ticket in an unassigned stage?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386791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the team queue, with a PM alert after two hours.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54296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3717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effort mandatory at handoff?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yes, blocking. Otherwise the roll-up degrades within weeks.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6208" y="4654296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241F5C"/>
          </a:solidFill>
          <a:ln w="12700">
            <a:solidFill>
              <a:srgbClr val="3B35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83717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effort self-reported or timer-based?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5166360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self-reported with an optional timer. Timers alone get forgotten.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— data model, API surface, all 31 screens and the complete gap list — is in the written blueprint.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TaskDesk — Ticketing System Blueprint</dc:title>
  <dc:subject>PptxGenJS Presentation</dc:subject>
  <dc:creator>TaskDesk</dc:creator>
  <cp:lastModifiedBy>TaskDesk</cp:lastModifiedBy>
  <cp:revision>1</cp:revision>
  <dcterms:created xsi:type="dcterms:W3CDTF">2026-08-04T03:17:39Z</dcterms:created>
  <dcterms:modified xsi:type="dcterms:W3CDTF">2026-08-04T03:17:39Z</dcterms:modified>
</cp:coreProperties>
</file>